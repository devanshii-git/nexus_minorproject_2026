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PbAyKVVoQXSWGc51oM9Blbcd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6FC686-144D-48CA-8DA7-3F8F49C264F1}">
  <a:tblStyle styleId="{676FC686-144D-48CA-8DA7-3F8F49C264F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47"/>
    <p:restoredTop sz="94715"/>
  </p:normalViewPr>
  <p:slideViewPr>
    <p:cSldViewPr snapToGrid="0" snapToObjects="1">
      <p:cViewPr varScale="1">
        <p:scale>
          <a:sx n="122" d="100"/>
          <a:sy n="122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31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1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5" name="Google Shape;125;p31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0" name="Google Shape;130;p3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3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35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6" name="Google Shape;166;p3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3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3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38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3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5" name="Google Shape;175;p3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9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9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9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39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39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3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6" name="Google Shape;186;p3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0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4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3" name="Google Shape;203;p4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4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41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41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9" name="Google Shape;209;p41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4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4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6" name="Google Shape;216;p4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1" name="Google Shape;221;p4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4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6" name="Google Shape;226;p4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4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4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4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4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4" name="Google Shape;234;p4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4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4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46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4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4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2" name="Google Shape;242;p4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4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4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4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4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4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0" name="Google Shape;250;p4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48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4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4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7" name="Google Shape;257;p4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4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4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49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49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4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4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6" name="Google Shape;266;p4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5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50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50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50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50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50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5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5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7" name="Google Shape;277;p5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" name="Google Shape;11;p12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38680" y="2160000"/>
            <a:ext cx="4405320" cy="153756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0" y="2275920"/>
            <a:ext cx="12191760" cy="56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260000" y="6011280"/>
            <a:ext cx="1681920" cy="58716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1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653720" y="3888000"/>
            <a:ext cx="2784240" cy="9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"/>
          <p:cNvSpPr txBox="1">
            <a:spLocks noGrp="1"/>
          </p:cNvSpPr>
          <p:nvPr>
            <p:ph type="title" idx="4294967295"/>
          </p:nvPr>
        </p:nvSpPr>
        <p:spPr>
          <a:xfrm>
            <a:off x="0" y="1906457"/>
            <a:ext cx="12191760" cy="56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IN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"/>
          <p:cNvSpPr/>
          <p:nvPr/>
        </p:nvSpPr>
        <p:spPr>
          <a:xfrm>
            <a:off x="389160" y="4606920"/>
            <a:ext cx="3823560" cy="30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BY:-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"/>
          <p:cNvSpPr/>
          <p:nvPr/>
        </p:nvSpPr>
        <p:spPr>
          <a:xfrm>
            <a:off x="7816680" y="4815159"/>
            <a:ext cx="3832200" cy="116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MENTORED BY:-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buSzPts val="1400"/>
            </a:pPr>
            <a:endParaRPr lang="en-IN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>
              <a:buSzPts val="1400"/>
            </a:pPr>
            <a:r>
              <a:rPr lang="en-IN" sz="1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Dr.Mitali</a:t>
            </a:r>
            <a:r>
              <a:rPr lang="en-IN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Chugh</a:t>
            </a:r>
            <a:r>
              <a:rPr lang="en-IN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Associate Professor and Program Lead DevOps  </a:t>
            </a:r>
            <a:endParaRPr lang="en-IN" dirty="0">
              <a:solidFill>
                <a:schemeClr val="dk1"/>
              </a:solidFill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"/>
          <p:cNvSpPr/>
          <p:nvPr/>
        </p:nvSpPr>
        <p:spPr>
          <a:xfrm>
            <a:off x="0" y="398880"/>
            <a:ext cx="12191760" cy="56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66"/>
              <a:buFont typeface="Calibri"/>
              <a:buNone/>
            </a:pPr>
            <a:r>
              <a:rPr lang="en-IN" sz="3366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Minor Project Synopsis Presentation</a:t>
            </a:r>
            <a:endParaRPr sz="3366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"/>
          <p:cNvSpPr txBox="1"/>
          <p:nvPr/>
        </p:nvSpPr>
        <p:spPr>
          <a:xfrm>
            <a:off x="1057385" y="2505193"/>
            <a:ext cx="1007698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AI-Driven System for Automated Requirements Engineering from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Unstructured Stakeholder Communication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"/>
          <p:cNvSpPr txBox="1"/>
          <p:nvPr/>
        </p:nvSpPr>
        <p:spPr>
          <a:xfrm>
            <a:off x="367867" y="4950374"/>
            <a:ext cx="6318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Sreyas Sharma,        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Nos.-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R2142230271,  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CSE DevOps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Shreyash Shivhare,  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Nos.-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R2142231555,  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CSE DevOps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Shivang Mangal,     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Nos.-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R2142230269,  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CSE DevOps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Devanshi Jain,         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Roll Nos.-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R2142230278,   </a:t>
            </a:r>
            <a:r>
              <a:rPr lang="en-IN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Branch-</a:t>
            </a:r>
            <a:r>
              <a:rPr lang="en-IN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CSE DevOps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"/>
          <p:cNvSpPr txBox="1"/>
          <p:nvPr/>
        </p:nvSpPr>
        <p:spPr>
          <a:xfrm>
            <a:off x="829961" y="1488489"/>
            <a:ext cx="10410300" cy="48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Modern software projects struggle with managing requirements dispersed across unstructured sources like emails, chats, and documents.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This dispersion makes manual requirements engineering inefficient and error-prone.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The project proposes an AI-driven automated requirements engineering system.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The system uses natural language processing (NLP) and machine learning (ML) techniques.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Key functions: extract, classify, cluster, prioritize, and summarize stakeholder requirements.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Benefits: enables accurate and scalable requirement analysis.</a:t>
            </a:r>
            <a:br>
              <a:rPr lang="en-IN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marL="45720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8B8B8B"/>
                </a:solidFill>
              </a:rPr>
              <a:t>(Source: Umar &amp; Lano, 2024)</a:t>
            </a:r>
            <a:endParaRPr sz="1800">
              <a:solidFill>
                <a:srgbClr val="8B8B8B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670920" y="1716384"/>
            <a:ext cx="10953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"/>
          <p:cNvSpPr txBox="1"/>
          <p:nvPr/>
        </p:nvSpPr>
        <p:spPr>
          <a:xfrm>
            <a:off x="670923" y="1456732"/>
            <a:ext cx="11292600" cy="47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RE Challenges: Requirements scatter in agile across emails/chats; causes delays, overruns, failures.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AI Solution: Desktop system automates extraction, classification, clustering, prioritization, summarization via NLP/ML.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Extraction: Linguistic patterns + NER.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Advanced Processing: Classify functional/non-functional; cluster with TF-IDF + K-Means; prioritize by importance.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Tech Stack: Electron UI, Spring Boot backend, Flask AI service.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Integrations: Gmail, Telegram; scalable &amp; privacy-focused.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Benefits: Accurate, efficient RE for better stakeholder insights.</a:t>
            </a:r>
            <a:endParaRPr sz="2100">
              <a:solidFill>
                <a:schemeClr val="dk1"/>
              </a:solidFill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8B8B8B"/>
              </a:solidFill>
            </a:endParaRPr>
          </a:p>
          <a:p>
            <a:pPr marL="45720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rgbClr val="8B8B8B"/>
                </a:solidFill>
              </a:rPr>
              <a:t>(Source: Umar &amp; Lano, 2024)</a:t>
            </a:r>
            <a:endParaRPr sz="1800">
              <a:solidFill>
                <a:srgbClr val="8B8B8B"/>
              </a:solidFill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8B8B8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40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5"/>
          <p:cNvSpPr txBox="1"/>
          <p:nvPr/>
        </p:nvSpPr>
        <p:spPr>
          <a:xfrm>
            <a:off x="1629103" y="1681655"/>
            <a:ext cx="8681545" cy="3870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Automatically extract requirements from unstructured text sources.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Classify requirements into functional and non-functional categories.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similar requirements to detect redundancy.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Prioritize requirements using importance indicators.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 concise summaries for stakeholder insights.</a:t>
            </a:r>
            <a:endParaRPr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Minimize manual effort while boosting RE accuracy.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40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6"/>
          <p:cNvSpPr txBox="1"/>
          <p:nvPr/>
        </p:nvSpPr>
        <p:spPr>
          <a:xfrm>
            <a:off x="824067" y="2242411"/>
            <a:ext cx="10391100" cy="39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Development Approach: Agile-based modular design.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Data Handling: Collects unstructured stakeholder data and preprocesses it via backend.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Analysis Techniques: Applies NLP and ML for requirement extraction, classification, clustering, prioritization, and summarization.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IN" sz="2100">
                <a:solidFill>
                  <a:schemeClr val="dk1"/>
                </a:solidFill>
              </a:rPr>
              <a:t>Delivery: Presents processed results through cross-platform desktop interface.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8B8B8B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900">
                <a:solidFill>
                  <a:srgbClr val="8B8B8B"/>
                </a:solidFill>
              </a:rPr>
              <a:t>(Source: Siddeshwar et al., 2024; Voria et al., 2025)</a:t>
            </a:r>
            <a:endParaRPr sz="1900">
              <a:solidFill>
                <a:srgbClr val="8B8B8B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100">
              <a:solidFill>
                <a:srgbClr val="8B8B8B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7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Tools and Technologies </a:t>
            </a:r>
            <a:endParaRPr sz="40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609960" y="1156138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27" name="Google Shape;327;p7"/>
          <p:cNvGraphicFramePr/>
          <p:nvPr>
            <p:extLst>
              <p:ext uri="{D42A27DB-BD31-4B8C-83A1-F6EECF244321}">
                <p14:modId xmlns:p14="http://schemas.microsoft.com/office/powerpoint/2010/main" val="3381844722"/>
              </p:ext>
            </p:extLst>
          </p:nvPr>
        </p:nvGraphicFramePr>
        <p:xfrm>
          <a:off x="1368724" y="1135118"/>
          <a:ext cx="8773759" cy="5112942"/>
        </p:xfrm>
        <a:graphic>
          <a:graphicData uri="http://schemas.openxmlformats.org/drawingml/2006/table">
            <a:tbl>
              <a:tblPr firstRow="1" bandRow="1">
                <a:tableStyleId>{676FC686-144D-48CA-8DA7-3F8F49C264F1}</a:tableStyleId>
              </a:tblPr>
              <a:tblGrid>
                <a:gridCol w="1623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7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476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sng" strike="noStrike" cap="none"/>
                        <a:t>Layer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sng" strike="noStrike" cap="none"/>
                        <a:t>Tools/Frameworks</a:t>
                      </a:r>
                      <a:endParaRPr sz="1800" u="sng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sng" strike="noStrike" cap="none" dirty="0"/>
                        <a:t>Purpose</a:t>
                      </a:r>
                      <a:endParaRPr sz="1800" u="sng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51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/>
                        <a:t>Frontend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dirty="0"/>
                        <a:t>Electron, </a:t>
                      </a:r>
                      <a:r>
                        <a:rPr lang="en-IN" sz="1800" u="none" strike="noStrike" dirty="0" err="1"/>
                        <a:t>React.js</a:t>
                      </a:r>
                      <a:r>
                        <a:rPr lang="en-IN" sz="1800" u="none" strike="noStrike" dirty="0"/>
                        <a:t>, </a:t>
                      </a:r>
                      <a:r>
                        <a:rPr lang="en-IN" sz="1800" u="none" strike="noStrike" dirty="0" err="1"/>
                        <a:t>Vite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/>
                        <a:t>Cross-platform desktop app with native-like UI, component-based interface, fast builds.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51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Backend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/>
                        <a:t>Spring Boot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/>
                        <a:t>API orchestration, authentication, data fetching/preprocessing from emails/chats.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50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AI/NLP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dirty="0"/>
                        <a:t>Flask (Python), </a:t>
                      </a:r>
                      <a:r>
                        <a:rPr lang="en-IN" sz="1800" u="none" strike="noStrike" dirty="0" err="1"/>
                        <a:t>scikit</a:t>
                      </a:r>
                      <a:r>
                        <a:rPr lang="en-IN" sz="1800" u="none" strike="noStrike" dirty="0"/>
                        <a:t>-learn (implied), </a:t>
                      </a:r>
                      <a:r>
                        <a:rPr lang="en-IN" sz="1800" u="none" strike="noStrike" dirty="0" err="1"/>
                        <a:t>spaCy</a:t>
                      </a:r>
                      <a:r>
                        <a:rPr lang="en-IN" sz="1800" u="none" strike="noStrike" dirty="0"/>
                        <a:t>/NLTK (for NER)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dirty="0"/>
                        <a:t>Microservice for extraction (rules/NER), classification (ML), clustering (TF-IDF/K-Means), prioritization, summarization.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51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Integrations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/>
                        <a:t>Gmail API/IMAP, Telegram Bot API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/>
                        <a:t>Secure data ingestion from emails, messages, attachments (PDF/DOCX).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76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Development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dirty="0"/>
                        <a:t>Agile Scrum + Kanban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dirty="0"/>
                        <a:t>Iterative sprints, task visualization.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501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Deployment</a:t>
                      </a: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Docker, GitHub Actions (CI/CD), AWS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Automated Security scanning and secure and smooth deployment.</a:t>
                      </a:r>
                      <a:endParaRPr sz="1800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35637911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Screenshots</a:t>
            </a:r>
            <a:endParaRPr sz="40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4" name="Google Shape;33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604" y="1204378"/>
            <a:ext cx="5018875" cy="280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5784" y="1204378"/>
            <a:ext cx="5717356" cy="280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2579" y="4026383"/>
            <a:ext cx="5896824" cy="266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Pert Chart</a:t>
            </a:r>
            <a:endParaRPr sz="40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985DB4-6035-1548-BABA-CAEADD5B4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36" y="1569240"/>
            <a:ext cx="8135007" cy="43344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4000" b="0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1600" dirty="0"/>
              <a:t>[1] K. Lam, M. H. Bhuiyan, M. S. Islam, A. H. Chowdhury, Z. A. Bhuiyan, and S. </a:t>
            </a:r>
            <a:r>
              <a:rPr lang="en-IN" sz="1600" dirty="0" err="1"/>
              <a:t>Ahmmed</a:t>
            </a:r>
            <a:r>
              <a:rPr lang="en-IN" sz="1600" dirty="0"/>
              <a:t>, “Co-pilot for project managers: Developing a PDF-driven AI chatbot for facilitating project management,” IEEE Access, vol. 13, pp. 43079–43096, 2025, </a:t>
            </a:r>
            <a:r>
              <a:rPr lang="en-IN" sz="1600" dirty="0" err="1"/>
              <a:t>doi</a:t>
            </a:r>
            <a:r>
              <a:rPr lang="en-IN" sz="1600" dirty="0"/>
              <a:t>: 10.1109/ACCESS.2025.3548519.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dirty="0"/>
              <a:t>[2] V. </a:t>
            </a:r>
            <a:r>
              <a:rPr lang="en-IN" sz="1600" dirty="0" err="1"/>
              <a:t>Siddeshwar</a:t>
            </a:r>
            <a:r>
              <a:rPr lang="en-IN" sz="1600" dirty="0"/>
              <a:t>, S. </a:t>
            </a:r>
            <a:r>
              <a:rPr lang="en-IN" sz="1600" dirty="0" err="1"/>
              <a:t>Alwidian</a:t>
            </a:r>
            <a:r>
              <a:rPr lang="en-IN" sz="1600" dirty="0"/>
              <a:t>, and M. </a:t>
            </a:r>
            <a:r>
              <a:rPr lang="en-IN" sz="1600" dirty="0" err="1"/>
              <a:t>Makrehchi</a:t>
            </a:r>
            <a:r>
              <a:rPr lang="en-IN" sz="1600" dirty="0"/>
              <a:t>, “A systematic review of AI-enabled frameworks in requirements elicitation,” IEEE Access, vol. 12, pp. 154310–154328, 2024, </a:t>
            </a:r>
            <a:r>
              <a:rPr lang="en-IN" sz="1600" dirty="0" err="1"/>
              <a:t>doi</a:t>
            </a:r>
            <a:r>
              <a:rPr lang="en-IN" sz="1600" dirty="0"/>
              <a:t>: 10.1109/ACCESS.2024.3475293.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dirty="0"/>
              <a:t>[3] M. A. Umar and K. </a:t>
            </a:r>
            <a:r>
              <a:rPr lang="en-IN" sz="1600" dirty="0" err="1"/>
              <a:t>Lano</a:t>
            </a:r>
            <a:r>
              <a:rPr lang="en-IN" sz="1600" dirty="0"/>
              <a:t>, “Advances in automated support for requirements engineering: A systematic literature review,” Requirements Engineering, vol. 29, pp. 177–207, 2024, </a:t>
            </a:r>
            <a:r>
              <a:rPr lang="en-IN" sz="1600" dirty="0" err="1"/>
              <a:t>doi</a:t>
            </a:r>
            <a:r>
              <a:rPr lang="en-IN" sz="1600" dirty="0"/>
              <a:t>: 10.1007/s00766-023-00411-0.</a:t>
            </a:r>
          </a:p>
          <a:p>
            <a:br>
              <a:rPr lang="en-IN" sz="1600" dirty="0"/>
            </a:br>
            <a:endParaRPr lang="en-IN" sz="1600" dirty="0"/>
          </a:p>
          <a:p>
            <a:r>
              <a:rPr lang="en-IN" sz="1600" dirty="0"/>
              <a:t>[4] G. </a:t>
            </a:r>
            <a:r>
              <a:rPr lang="en-IN" sz="1600" dirty="0" err="1"/>
              <a:t>Voria</a:t>
            </a:r>
            <a:r>
              <a:rPr lang="en-IN" sz="1600" dirty="0"/>
              <a:t>, F. </a:t>
            </a:r>
            <a:r>
              <a:rPr lang="en-IN" sz="1600" dirty="0" err="1"/>
              <a:t>Casillo</a:t>
            </a:r>
            <a:r>
              <a:rPr lang="en-IN" sz="1600" dirty="0"/>
              <a:t>, C. </a:t>
            </a:r>
            <a:r>
              <a:rPr lang="en-IN" sz="1600" dirty="0" err="1"/>
              <a:t>Gravino</a:t>
            </a:r>
            <a:r>
              <a:rPr lang="en-IN" sz="1600" dirty="0"/>
              <a:t>, G. </a:t>
            </a:r>
            <a:r>
              <a:rPr lang="en-IN" sz="1600" dirty="0" err="1"/>
              <a:t>Catolino</a:t>
            </a:r>
            <a:r>
              <a:rPr lang="en-IN" sz="1600" dirty="0"/>
              <a:t>, and F. </a:t>
            </a:r>
            <a:r>
              <a:rPr lang="en-IN" sz="1600" dirty="0" err="1"/>
              <a:t>Palomba</a:t>
            </a:r>
            <a:r>
              <a:rPr lang="en-IN" sz="1600" dirty="0"/>
              <a:t>, “RECOVER: Toward requirements generation from stakeholders’ conversations,” IEEE Transactions on Software Engineering, vol. 51, no. 6, pp. 1912–1927, 2025, </a:t>
            </a:r>
            <a:r>
              <a:rPr lang="en-IN" sz="1600" dirty="0" err="1"/>
              <a:t>doi</a:t>
            </a:r>
            <a:r>
              <a:rPr lang="en-IN" sz="1600" dirty="0"/>
              <a:t>: 10.1109/TSE.2025.3572056.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607</Words>
  <Application>Microsoft Macintosh PowerPoint</Application>
  <PresentationFormat>Widescreen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Office Theme</vt:lpstr>
      <vt:lpstr>Office Theme</vt:lpstr>
      <vt:lpstr>PowerPoint Presentation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Apple 2</dc:creator>
  <cp:lastModifiedBy>Shreyash Shivhare</cp:lastModifiedBy>
  <cp:revision>4</cp:revision>
  <dcterms:created xsi:type="dcterms:W3CDTF">2017-08-14T08:34:40Z</dcterms:created>
  <dcterms:modified xsi:type="dcterms:W3CDTF">2026-02-09T17:06:54Z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