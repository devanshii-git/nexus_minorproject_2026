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  <p:sldMasterId id="2147483674" r:id="rId3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7559675" cy="106918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iPbAyKVVoQXSWGc51oM9BlbcdM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6FC686-144D-48CA-8DA7-3F8F49C264F1}">
  <a:tblStyle styleId="{676FC686-144D-48CA-8DA7-3F8F49C264F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54"/>
    <p:restoredTop sz="94715"/>
  </p:normalViewPr>
  <p:slideViewPr>
    <p:cSldViewPr snapToGrid="0" snapToObjects="1">
      <p:cViewPr varScale="1">
        <p:scale>
          <a:sx n="122" d="100"/>
          <a:sy n="122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2" Type="http://schemas.openxmlformats.org/officeDocument/2006/relationships/slideMaster" Target="slideMasters/slideMaster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customschemas.google.com/relationships/presentationmetadata" Target="meta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01688"/>
            <a:ext cx="7126287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5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6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7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01688"/>
            <a:ext cx="7126287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01688"/>
            <a:ext cx="7126287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9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0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01688"/>
            <a:ext cx="7126287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1:notes"/>
          <p:cNvSpPr txBox="1">
            <a:spLocks noGrp="1"/>
          </p:cNvSpPr>
          <p:nvPr>
            <p:ph type="body" idx="1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60175" y="801875"/>
            <a:ext cx="5040025" cy="40094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5" name="Google Shape;15;p13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8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8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9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0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1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>
            <a:spLocks noGrp="1"/>
          </p:cNvSpPr>
          <p:nvPr>
            <p:ph type="subTitle" idx="1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2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3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3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3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3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3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4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4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25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68" name="Google Shape;68;p25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6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7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8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28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28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8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8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5" name="Google Shape;95;p28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9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9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29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9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12" name="Google Shape;112;p29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0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3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30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30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18" name="Google Shape;118;p30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1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31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31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1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25" name="Google Shape;125;p31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2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2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2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30" name="Google Shape;130;p32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3"/>
          <p:cNvSpPr txBox="1">
            <a:spLocks noGrp="1"/>
          </p:cNvSpPr>
          <p:nvPr>
            <p:ph type="subTitle" idx="1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33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33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34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34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" name="Google Shape;141;p34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34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43" name="Google Shape;143;p34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5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3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35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35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35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5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51" name="Google Shape;151;p35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6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3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36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7" name="Google Shape;157;p36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6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59" name="Google Shape;159;p36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7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3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37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37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37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66" name="Google Shape;166;p37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8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3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38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38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2" name="Google Shape;172;p38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3" name="Google Shape;173;p38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8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75" name="Google Shape;175;p38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9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39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39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39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39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39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39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39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86" name="Google Shape;186;p39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7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17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197" name="Google Shape;197;p17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0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0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40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40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03" name="Google Shape;203;p40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1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41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41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09" name="Google Shape;209;p41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42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4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42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4" name="Google Shape;214;p42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42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16" name="Google Shape;216;p42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3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43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43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21" name="Google Shape;221;p43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4"/>
          <p:cNvSpPr txBox="1">
            <a:spLocks noGrp="1"/>
          </p:cNvSpPr>
          <p:nvPr>
            <p:ph type="subTitle" idx="1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4" name="Google Shape;224;p44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4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26" name="Google Shape;226;p44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5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4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45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1" name="Google Shape;231;p45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p45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45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34" name="Google Shape;234;p45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6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4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4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9" name="Google Shape;239;p46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46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46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42" name="Google Shape;242;p46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7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4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6" name="Google Shape;246;p4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47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47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47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50" name="Google Shape;250;p47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8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4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4" name="Google Shape;254;p48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5" name="Google Shape;255;p48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48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57" name="Google Shape;257;p48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9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0" name="Google Shape;260;p4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1" name="Google Shape;261;p49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2" name="Google Shape;262;p49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3" name="Google Shape;263;p49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4" name="Google Shape;264;p49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49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66" name="Google Shape;266;p49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50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5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0" name="Google Shape;270;p50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1" name="Google Shape;271;p50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50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3" name="Google Shape;273;p50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4" name="Google Shape;274;p50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5" name="Google Shape;275;p50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50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77" name="Google Shape;277;p50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jp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4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2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2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Google Shape;9;p12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1" name="Google Shape;11;p12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838680" y="2160000"/>
            <a:ext cx="4405320" cy="153756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4"/>
          <p:cNvSpPr txBox="1">
            <a:spLocks noGrp="1"/>
          </p:cNvSpPr>
          <p:nvPr>
            <p:ph type="title"/>
          </p:nvPr>
        </p:nvSpPr>
        <p:spPr>
          <a:xfrm>
            <a:off x="0" y="2275920"/>
            <a:ext cx="12191760" cy="56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02" name="Google Shape;102;p14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260000" y="6011280"/>
            <a:ext cx="1681920" cy="58716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6"/>
          <p:cNvSpPr txBox="1"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9" name="Google Shape;189;p16"/>
          <p:cNvSpPr txBox="1"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400" b="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0" name="Google Shape;190;p16"/>
          <p:cNvSpPr txBox="1"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Clr>
                <a:srgbClr val="8B8B8B"/>
              </a:buClr>
              <a:buSzPts val="1200"/>
              <a:buFont typeface="Calibri"/>
              <a:buNone/>
              <a:defRPr sz="1200" b="0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91" name="Google Shape;191;p16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4653720" y="3888000"/>
            <a:ext cx="2784240" cy="9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6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3" name="Google Shape;193;p1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"/>
          <p:cNvSpPr txBox="1">
            <a:spLocks noGrp="1"/>
          </p:cNvSpPr>
          <p:nvPr>
            <p:ph type="title" idx="4294967295"/>
          </p:nvPr>
        </p:nvSpPr>
        <p:spPr>
          <a:xfrm>
            <a:off x="0" y="1906457"/>
            <a:ext cx="12191760" cy="56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None/>
            </a:pPr>
            <a:r>
              <a:rPr lang="en-IN" sz="3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Project Title</a:t>
            </a:r>
            <a:endParaRPr sz="3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"/>
          <p:cNvSpPr/>
          <p:nvPr/>
        </p:nvSpPr>
        <p:spPr>
          <a:xfrm>
            <a:off x="389160" y="4606920"/>
            <a:ext cx="3823560" cy="30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r>
              <a:rPr lang="en-IN" sz="14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SUBMITTED BY:-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"/>
          <p:cNvSpPr/>
          <p:nvPr/>
        </p:nvSpPr>
        <p:spPr>
          <a:xfrm>
            <a:off x="7816680" y="4815159"/>
            <a:ext cx="3832200" cy="1168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r>
              <a:rPr lang="en-IN" sz="1400" b="1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MENTORED BY:-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algn="r">
              <a:buSzPts val="1400"/>
            </a:pPr>
            <a:endParaRPr lang="en-IN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>
              <a:buSzPts val="1400"/>
            </a:pPr>
            <a:r>
              <a:rPr lang="en-IN" sz="1400" b="1" i="0" u="none" strike="noStrike" cap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Dr.Mitali</a:t>
            </a:r>
            <a:r>
              <a:rPr lang="en-IN" sz="1400" b="1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400" b="1" i="0" u="none" strike="noStrike" cap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Chugh</a:t>
            </a:r>
            <a:r>
              <a:rPr lang="en-IN" sz="1400" b="1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</a:t>
            </a:r>
            <a:r>
              <a:rPr lang="en-IN" b="1" dirty="0">
                <a:latin typeface="Times New Roman"/>
                <a:ea typeface="Times New Roman"/>
                <a:cs typeface="Times New Roman"/>
                <a:sym typeface="Times New Roman"/>
              </a:rPr>
              <a:t>Associate Professor and Program Lead DevOps  </a:t>
            </a:r>
            <a:endParaRPr lang="en-IN" dirty="0">
              <a:solidFill>
                <a:schemeClr val="dk1"/>
              </a:solidFill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r>
              <a:rPr lang="en-IN" sz="1400" b="1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"/>
          <p:cNvSpPr/>
          <p:nvPr/>
        </p:nvSpPr>
        <p:spPr>
          <a:xfrm>
            <a:off x="0" y="398880"/>
            <a:ext cx="12191760" cy="56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66"/>
              <a:buFont typeface="Calibri"/>
              <a:buNone/>
            </a:pPr>
            <a:r>
              <a:rPr lang="en-IN" sz="336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Minor Project Synopsis Presentation</a:t>
            </a:r>
            <a:endParaRPr sz="3366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"/>
          <p:cNvSpPr txBox="1"/>
          <p:nvPr/>
        </p:nvSpPr>
        <p:spPr>
          <a:xfrm>
            <a:off x="1057385" y="2505193"/>
            <a:ext cx="10076989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AI-Driven System for Automated Requirements Engineering from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Unstructured Stakeholder Communication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"/>
          <p:cNvSpPr txBox="1"/>
          <p:nvPr/>
        </p:nvSpPr>
        <p:spPr>
          <a:xfrm>
            <a:off x="367867" y="4950374"/>
            <a:ext cx="63180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Sreyas Sharma,      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Roll Nos.-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R2142230271,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Branch-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B.Tech CSE DevOps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Shreyash Shivhare,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Roll Nos.-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R2142231555,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Branch-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B.Tech CSE DevOps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Shivang Mangal,   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Roll Nos.-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R2142230269,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Branch-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B.Tech CSE DevOps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Devanshi Jain,       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Roll Nos.-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R2142230278,   </a:t>
            </a:r>
            <a:r>
              <a:rPr lang="en-IN" sz="1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Branch-</a:t>
            </a:r>
            <a:r>
              <a:rPr lang="en-IN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B.Tech CSE DevOps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Abstract</a:t>
            </a:r>
            <a:endParaRPr sz="4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829961" y="1488489"/>
            <a:ext cx="10410300" cy="48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Modern software projects struggle with managing requirements dispersed across unstructured sources like emails, chats, and documents.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This dispersion makes manual requirements engineering inefficient and error-prone.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The project proposes an AI-driven automated requirements engineering system.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The system uses natural language processing (NLP) and machine learning (ML) techniques.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Key functions: extract, classify, cluster, prioritize, and summarize stakeholder requirements.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Benefits: enables accurate and scalable requirement analysis.</a:t>
            </a:r>
            <a:br>
              <a:rPr lang="en-IN" sz="2100">
                <a:solidFill>
                  <a:schemeClr val="dk1"/>
                </a:solidFill>
              </a:rPr>
            </a:br>
            <a:endParaRPr sz="2100">
              <a:solidFill>
                <a:schemeClr val="dk1"/>
              </a:solidFill>
            </a:endParaRPr>
          </a:p>
          <a:p>
            <a:pPr marL="45720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rgbClr val="8B8B8B"/>
                </a:solidFill>
              </a:rPr>
              <a:t>(Source: Umar &amp; Lano, 2024)</a:t>
            </a:r>
            <a:endParaRPr sz="1800">
              <a:solidFill>
                <a:srgbClr val="8B8B8B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sz="4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4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4"/>
          <p:cNvSpPr txBox="1"/>
          <p:nvPr/>
        </p:nvSpPr>
        <p:spPr>
          <a:xfrm>
            <a:off x="670920" y="1716384"/>
            <a:ext cx="10953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"/>
          <p:cNvSpPr txBox="1"/>
          <p:nvPr/>
        </p:nvSpPr>
        <p:spPr>
          <a:xfrm>
            <a:off x="670923" y="1456732"/>
            <a:ext cx="11292600" cy="47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RE Challenges: Requirements scatter in agile across emails/chats; causes delays, overruns, failures.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AI Solution: Desktop system automates extraction, classification, clustering, prioritization, summarization via NLP/ML.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Extraction: Linguistic patterns + NER.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Advanced Processing: Classify functional/non-functional; cluster with TF-IDF + K-Means; prioritize by importance.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Tech Stack: Electron UI, Spring Boot backend, Flask AI service.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Integrations: Gmail, Telegram; scalable &amp; privacy-focused.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Benefits: Accurate, efficient RE for better stakeholder insights.</a:t>
            </a:r>
            <a:endParaRPr sz="2100">
              <a:solidFill>
                <a:schemeClr val="dk1"/>
              </a:solidFill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8B8B8B"/>
              </a:solidFill>
            </a:endParaRPr>
          </a:p>
          <a:p>
            <a:pPr marL="45720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sz="1800">
                <a:solidFill>
                  <a:srgbClr val="8B8B8B"/>
                </a:solidFill>
              </a:rPr>
              <a:t>(Source: Umar &amp; Lano, 2024)</a:t>
            </a:r>
            <a:endParaRPr sz="1800">
              <a:solidFill>
                <a:srgbClr val="8B8B8B"/>
              </a:solidFill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8B8B8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sz="4000" b="0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5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"/>
          <p:cNvSpPr txBox="1"/>
          <p:nvPr/>
        </p:nvSpPr>
        <p:spPr>
          <a:xfrm>
            <a:off x="1629103" y="1681655"/>
            <a:ext cx="8681545" cy="3870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IN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Automatically extract requirements from unstructured text sources.</a:t>
            </a:r>
            <a:endParaRPr/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IN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Classify requirements into functional and non-functional categories.</a:t>
            </a:r>
            <a:endParaRPr/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IN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Cluster similar requirements to detect redundancy.</a:t>
            </a:r>
            <a:endParaRPr/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IN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Prioritize requirements using importance indicators.</a:t>
            </a:r>
            <a:endParaRPr/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IN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Generate concise summaries for stakeholder insights.</a:t>
            </a:r>
            <a:endParaRPr/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IN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Minimize manual effort while boosting RE accuracy.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sz="4000" b="0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6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6"/>
          <p:cNvSpPr txBox="1"/>
          <p:nvPr/>
        </p:nvSpPr>
        <p:spPr>
          <a:xfrm>
            <a:off x="824067" y="2242411"/>
            <a:ext cx="10391100" cy="39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Development Approach: Agile-based modular design.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Data Handling: Collects unstructured stakeholder data and preprocesses it via backend.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Analysis Techniques: Applies NLP and ML for requirement extraction, classification, clustering, prioritization, and summarization.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●"/>
            </a:pPr>
            <a:r>
              <a:rPr lang="en-IN" sz="2100">
                <a:solidFill>
                  <a:schemeClr val="dk1"/>
                </a:solidFill>
              </a:rPr>
              <a:t>Delivery: Presents processed results through cross-platform desktop interface.</a:t>
            </a:r>
            <a:endParaRPr sz="2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chemeClr val="dk1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8B8B8B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900">
                <a:solidFill>
                  <a:srgbClr val="8B8B8B"/>
                </a:solidFill>
              </a:rPr>
              <a:t>(Source: Siddeshwar et al., 2024; Voria et al., 2025)</a:t>
            </a:r>
            <a:endParaRPr sz="1900">
              <a:solidFill>
                <a:srgbClr val="8B8B8B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2100">
              <a:solidFill>
                <a:srgbClr val="8B8B8B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7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Tools and Technologies </a:t>
            </a:r>
            <a:endParaRPr sz="4000" b="0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609960" y="1156138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27" name="Google Shape;327;p7"/>
          <p:cNvGraphicFramePr/>
          <p:nvPr>
            <p:extLst>
              <p:ext uri="{D42A27DB-BD31-4B8C-83A1-F6EECF244321}">
                <p14:modId xmlns:p14="http://schemas.microsoft.com/office/powerpoint/2010/main" val="3381844722"/>
              </p:ext>
            </p:extLst>
          </p:nvPr>
        </p:nvGraphicFramePr>
        <p:xfrm>
          <a:off x="1368724" y="1135118"/>
          <a:ext cx="8773759" cy="5112942"/>
        </p:xfrm>
        <a:graphic>
          <a:graphicData uri="http://schemas.openxmlformats.org/drawingml/2006/table">
            <a:tbl>
              <a:tblPr firstRow="1" bandRow="1">
                <a:tableStyleId>{676FC686-144D-48CA-8DA7-3F8F49C264F1}</a:tableStyleId>
              </a:tblPr>
              <a:tblGrid>
                <a:gridCol w="16236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7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1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476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sng" strike="noStrike" cap="none"/>
                        <a:t>Layer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sng" strike="noStrike" cap="none"/>
                        <a:t>Tools/Frameworks</a:t>
                      </a:r>
                      <a:endParaRPr sz="1800" u="sng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sng" strike="noStrike" cap="none" dirty="0"/>
                        <a:t>Purpose</a:t>
                      </a:r>
                      <a:endParaRPr sz="1800" u="sng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5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cap="none"/>
                        <a:t>Frontend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dirty="0"/>
                        <a:t>Electron, </a:t>
                      </a:r>
                      <a:r>
                        <a:rPr lang="en-IN" sz="1800" u="none" strike="noStrike" dirty="0" err="1"/>
                        <a:t>React.js</a:t>
                      </a:r>
                      <a:r>
                        <a:rPr lang="en-IN" sz="1800" u="none" strike="noStrike" dirty="0"/>
                        <a:t>, </a:t>
                      </a:r>
                      <a:r>
                        <a:rPr lang="en-IN" sz="1800" u="none" strike="noStrike" dirty="0" err="1"/>
                        <a:t>Vite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/>
                        <a:t>Cross-platform desktop app with native-like UI, component-based interface, fast builds.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5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/>
                        <a:t>Backend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/>
                        <a:t>Spring Boot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/>
                        <a:t>API orchestration, authentication, data fetching/preprocessing from emails/chats.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50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dirty="0"/>
                        <a:t>AI/NLP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dirty="0"/>
                        <a:t>Flask (Python), </a:t>
                      </a:r>
                      <a:r>
                        <a:rPr lang="en-IN" sz="1800" u="none" strike="noStrike" dirty="0" err="1"/>
                        <a:t>scikit</a:t>
                      </a:r>
                      <a:r>
                        <a:rPr lang="en-IN" sz="1800" u="none" strike="noStrike" dirty="0"/>
                        <a:t>-learn (implied), </a:t>
                      </a:r>
                      <a:r>
                        <a:rPr lang="en-IN" sz="1800" u="none" strike="noStrike" dirty="0" err="1"/>
                        <a:t>spaCy</a:t>
                      </a:r>
                      <a:r>
                        <a:rPr lang="en-IN" sz="1800" u="none" strike="noStrike" dirty="0"/>
                        <a:t>/NLTK (for NER)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dirty="0"/>
                        <a:t>Microservice for extraction (rules/NER), classification (ML), clustering (TF-IDF/K-Means), prioritization, summarization.</a:t>
                      </a:r>
                      <a:endParaRPr sz="18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5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/>
                        <a:t>Integrations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/>
                        <a:t>Gmail API/IMAP, Telegram Bot API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/>
                        <a:t>Secure data ingestion from emails, messages, attachments (PDF/DOCX).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476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dirty="0"/>
                        <a:t>Development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dirty="0"/>
                        <a:t>Agile Scrum + Kanban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dirty="0"/>
                        <a:t>Iterative sprints, task visualization.</a:t>
                      </a:r>
                      <a:endParaRPr sz="18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750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Deployment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800" dirty="0"/>
                        <a:t>Docker, GitHub Actions (CI/CD), AWS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Automated Security scanning and secure and smooth deployment.</a:t>
                      </a:r>
                      <a:endParaRPr sz="18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35637911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8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Screenshots</a:t>
            </a:r>
            <a:endParaRPr sz="4000" b="0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8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604" y="1204378"/>
            <a:ext cx="5018875" cy="280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5784" y="1204378"/>
            <a:ext cx="5717356" cy="280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92579" y="4026383"/>
            <a:ext cx="5896824" cy="2660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9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Pert Chart</a:t>
            </a:r>
            <a:endParaRPr sz="4000" b="0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3" name="Google Shape;343;p9" title="Pert Chart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3299" y="1262950"/>
            <a:ext cx="10327549" cy="4467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0"/>
          <p:cNvSpPr/>
          <p:nvPr/>
        </p:nvSpPr>
        <p:spPr>
          <a:xfrm>
            <a:off x="533520" y="42696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</a:pPr>
            <a:r>
              <a:rPr lang="en-IN" sz="4000" b="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 sz="4000" b="0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549000" y="1326600"/>
            <a:ext cx="1097208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sz="1600" dirty="0"/>
              <a:t>[1] K. Lam, M. H. Bhuiyan, M. S. Islam, A. H. Chowdhury, Z. A. Bhuiyan, and S. </a:t>
            </a:r>
            <a:r>
              <a:rPr lang="en-IN" sz="1600" dirty="0" err="1"/>
              <a:t>Ahmmed</a:t>
            </a:r>
            <a:r>
              <a:rPr lang="en-IN" sz="1600" dirty="0"/>
              <a:t>, “Co-pilot for project managers: Developing a PDF-driven AI chatbot for facilitating project management,” IEEE Access, vol. 13, pp. 43079–43096, 2025, </a:t>
            </a:r>
            <a:r>
              <a:rPr lang="en-IN" sz="1600" dirty="0" err="1"/>
              <a:t>doi</a:t>
            </a:r>
            <a:r>
              <a:rPr lang="en-IN" sz="1600" dirty="0"/>
              <a:t>: 10.1109/ACCESS.2025.3548519.</a:t>
            </a:r>
          </a:p>
          <a:p>
            <a:br>
              <a:rPr lang="en-IN" sz="1600" dirty="0"/>
            </a:br>
            <a:endParaRPr lang="en-IN" sz="1600" dirty="0"/>
          </a:p>
          <a:p>
            <a:r>
              <a:rPr lang="en-IN" sz="1600" dirty="0"/>
              <a:t>[2] V. </a:t>
            </a:r>
            <a:r>
              <a:rPr lang="en-IN" sz="1600" dirty="0" err="1"/>
              <a:t>Siddeshwar</a:t>
            </a:r>
            <a:r>
              <a:rPr lang="en-IN" sz="1600" dirty="0"/>
              <a:t>, S. </a:t>
            </a:r>
            <a:r>
              <a:rPr lang="en-IN" sz="1600" dirty="0" err="1"/>
              <a:t>Alwidian</a:t>
            </a:r>
            <a:r>
              <a:rPr lang="en-IN" sz="1600" dirty="0"/>
              <a:t>, and M. </a:t>
            </a:r>
            <a:r>
              <a:rPr lang="en-IN" sz="1600" dirty="0" err="1"/>
              <a:t>Makrehchi</a:t>
            </a:r>
            <a:r>
              <a:rPr lang="en-IN" sz="1600" dirty="0"/>
              <a:t>, “A systematic review of AI-enabled frameworks in requirements elicitation,” IEEE Access, vol. 12, pp. 154310–154328, 2024, </a:t>
            </a:r>
            <a:r>
              <a:rPr lang="en-IN" sz="1600" dirty="0" err="1"/>
              <a:t>doi</a:t>
            </a:r>
            <a:r>
              <a:rPr lang="en-IN" sz="1600" dirty="0"/>
              <a:t>: 10.1109/ACCESS.2024.3475293.</a:t>
            </a:r>
          </a:p>
          <a:p>
            <a:br>
              <a:rPr lang="en-IN" sz="1600" dirty="0"/>
            </a:br>
            <a:endParaRPr lang="en-IN" sz="1600" dirty="0"/>
          </a:p>
          <a:p>
            <a:r>
              <a:rPr lang="en-IN" sz="1600" dirty="0"/>
              <a:t>[3] M. A. Umar and K. </a:t>
            </a:r>
            <a:r>
              <a:rPr lang="en-IN" sz="1600" dirty="0" err="1"/>
              <a:t>Lano</a:t>
            </a:r>
            <a:r>
              <a:rPr lang="en-IN" sz="1600" dirty="0"/>
              <a:t>, “Advances in automated support for requirements engineering: A systematic literature review,” Requirements Engineering, vol. 29, pp. 177–207, 2024, </a:t>
            </a:r>
            <a:r>
              <a:rPr lang="en-IN" sz="1600" dirty="0" err="1"/>
              <a:t>doi</a:t>
            </a:r>
            <a:r>
              <a:rPr lang="en-IN" sz="1600" dirty="0"/>
              <a:t>: 10.1007/s00766-023-00411-0.</a:t>
            </a:r>
          </a:p>
          <a:p>
            <a:br>
              <a:rPr lang="en-IN" sz="1600" dirty="0"/>
            </a:br>
            <a:endParaRPr lang="en-IN" sz="1600" dirty="0"/>
          </a:p>
          <a:p>
            <a:r>
              <a:rPr lang="en-IN" sz="1600" dirty="0"/>
              <a:t>[4] G. </a:t>
            </a:r>
            <a:r>
              <a:rPr lang="en-IN" sz="1600" dirty="0" err="1"/>
              <a:t>Voria</a:t>
            </a:r>
            <a:r>
              <a:rPr lang="en-IN" sz="1600" dirty="0"/>
              <a:t>, F. </a:t>
            </a:r>
            <a:r>
              <a:rPr lang="en-IN" sz="1600" dirty="0" err="1"/>
              <a:t>Casillo</a:t>
            </a:r>
            <a:r>
              <a:rPr lang="en-IN" sz="1600" dirty="0"/>
              <a:t>, C. </a:t>
            </a:r>
            <a:r>
              <a:rPr lang="en-IN" sz="1600" dirty="0" err="1"/>
              <a:t>Gravino</a:t>
            </a:r>
            <a:r>
              <a:rPr lang="en-IN" sz="1600" dirty="0"/>
              <a:t>, G. </a:t>
            </a:r>
            <a:r>
              <a:rPr lang="en-IN" sz="1600" dirty="0" err="1"/>
              <a:t>Catolino</a:t>
            </a:r>
            <a:r>
              <a:rPr lang="en-IN" sz="1600" dirty="0"/>
              <a:t>, and F. </a:t>
            </a:r>
            <a:r>
              <a:rPr lang="en-IN" sz="1600" dirty="0" err="1"/>
              <a:t>Palomba</a:t>
            </a:r>
            <a:r>
              <a:rPr lang="en-IN" sz="1600" dirty="0"/>
              <a:t>, “RECOVER: Toward requirements generation from stakeholders’ conversations,” IEEE Transactions on Software Engineering, vol. 51, no. 6, pp. 1912–1927, 2025, </a:t>
            </a:r>
            <a:r>
              <a:rPr lang="en-IN" sz="1600" dirty="0" err="1"/>
              <a:t>doi</a:t>
            </a:r>
            <a:r>
              <a:rPr lang="en-IN" sz="1600" dirty="0"/>
              <a:t>: 10.1109/TSE.2025.3572056.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607</Words>
  <Application>Microsoft Macintosh PowerPoint</Application>
  <PresentationFormat>Widescreen</PresentationFormat>
  <Paragraphs>78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Office Theme</vt:lpstr>
      <vt:lpstr>Office Theme</vt:lpstr>
      <vt:lpstr>PowerPoint Presentation</vt:lpstr>
      <vt:lpstr>Project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Apple 2</dc:creator>
  <cp:lastModifiedBy>Shreyash Shivhare</cp:lastModifiedBy>
  <cp:revision>3</cp:revision>
  <dcterms:created xsi:type="dcterms:W3CDTF">2017-08-14T08:34:40Z</dcterms:created>
  <dcterms:modified xsi:type="dcterms:W3CDTF">2026-02-07T06:01:51Z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11</vt:i4>
  </property>
</Properties>
</file>