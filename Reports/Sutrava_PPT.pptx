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  <p:sldMasterId id="2147483674" r:id="rId3"/>
  </p:sldMasterIdLst>
  <p:notesMasterIdLst>
    <p:notesMasterId r:id="rId26"/>
  </p:notesMasterIdLst>
  <p:sldIdLst>
    <p:sldId id="256" r:id="rId4"/>
    <p:sldId id="257" r:id="rId5"/>
    <p:sldId id="258" r:id="rId6"/>
    <p:sldId id="259" r:id="rId7"/>
    <p:sldId id="278" r:id="rId8"/>
    <p:sldId id="279" r:id="rId9"/>
    <p:sldId id="271" r:id="rId10"/>
    <p:sldId id="270" r:id="rId11"/>
    <p:sldId id="260" r:id="rId12"/>
    <p:sldId id="275" r:id="rId13"/>
    <p:sldId id="276" r:id="rId14"/>
    <p:sldId id="282" r:id="rId15"/>
    <p:sldId id="283" r:id="rId16"/>
    <p:sldId id="268" r:id="rId17"/>
    <p:sldId id="281" r:id="rId18"/>
    <p:sldId id="273" r:id="rId19"/>
    <p:sldId id="277" r:id="rId20"/>
    <p:sldId id="263" r:id="rId21"/>
    <p:sldId id="264" r:id="rId22"/>
    <p:sldId id="265" r:id="rId23"/>
    <p:sldId id="280" r:id="rId24"/>
    <p:sldId id="266" r:id="rId25"/>
  </p:sldIdLst>
  <p:sldSz cx="12192000" cy="6858000"/>
  <p:notesSz cx="7559675" cy="10691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PbAyKVVoQXSWGc51oM9BlbcdM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76FC686-144D-48CA-8DA7-3F8F49C264F1}">
  <a:tblStyle styleId="{676FC686-144D-48CA-8DA7-3F8F49C264F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/>
    <p:restoredTop sz="94715"/>
  </p:normalViewPr>
  <p:slideViewPr>
    <p:cSldViewPr snapToGrid="0" snapToObjects="1">
      <p:cViewPr varScale="1">
        <p:scale>
          <a:sx n="122" d="100"/>
          <a:sy n="122" d="100"/>
        </p:scale>
        <p:origin x="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08974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5211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78501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113888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1842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6247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06453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736282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89804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65353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922235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44118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01688"/>
            <a:ext cx="7126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1125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" name="Google Shape;21;p18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7" name="Google Shape;27;p19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0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4" name="Google Shape;34;p20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2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2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23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3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5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68" name="Google Shape;68;p25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75" name="Google Shape;75;p26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8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28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8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8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8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8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95" name="Google Shape;95;p28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5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6" name="Google Shape;106;p15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9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29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9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2" name="Google Shape;112;p29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30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30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18" name="Google Shape;118;p30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3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31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31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31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25" name="Google Shape;125;p31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32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2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0" name="Google Shape;130;p32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3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33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3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5" name="Google Shape;135;p33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4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34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34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4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43" name="Google Shape;143;p34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3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3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35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35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5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1" name="Google Shape;151;p35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36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6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36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6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59" name="Google Shape;159;p36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37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37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37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66" name="Google Shape;166;p37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38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38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38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38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38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75" name="Google Shape;175;p38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3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39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39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39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39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39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39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39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6" name="Google Shape;186;p39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7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p17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97" name="Google Shape;197;p17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40"/>
          <p:cNvSpPr txBox="1">
            <a:spLocks noGrp="1"/>
          </p:cNvSpPr>
          <p:nvPr>
            <p:ph type="subTitle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40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40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3" name="Google Shape;203;p40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1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41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41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41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09" name="Google Shape;209;p41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4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42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42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42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16" name="Google Shape;216;p42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43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43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1" name="Google Shape;221;p43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>
            <a:spLocks noGrp="1"/>
          </p:cNvSpPr>
          <p:nvPr>
            <p:ph type="subTitle" idx="1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4" name="Google Shape;224;p44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44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26" name="Google Shape;226;p44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5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45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45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45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45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45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34" name="Google Shape;234;p45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4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8" name="Google Shape;238;p46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9" name="Google Shape;239;p46"/>
          <p:cNvSpPr txBox="1">
            <a:spLocks noGrp="1"/>
          </p:cNvSpPr>
          <p:nvPr>
            <p:ph type="body" idx="3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46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46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42" name="Google Shape;242;p46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7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47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47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47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47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47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50" name="Google Shape;250;p47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8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48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4" name="Google Shape;254;p48"/>
          <p:cNvSpPr txBox="1">
            <a:spLocks noGrp="1"/>
          </p:cNvSpPr>
          <p:nvPr>
            <p:ph type="body" idx="2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5" name="Google Shape;255;p48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48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57" name="Google Shape;257;p48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9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49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1" name="Google Shape;261;p49"/>
          <p:cNvSpPr txBox="1">
            <a:spLocks noGrp="1"/>
          </p:cNvSpPr>
          <p:nvPr>
            <p:ph type="body" idx="2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2" name="Google Shape;262;p49"/>
          <p:cNvSpPr txBox="1">
            <a:spLocks noGrp="1"/>
          </p:cNvSpPr>
          <p:nvPr>
            <p:ph type="body" idx="3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3" name="Google Shape;263;p49"/>
          <p:cNvSpPr txBox="1">
            <a:spLocks noGrp="1"/>
          </p:cNvSpPr>
          <p:nvPr>
            <p:ph type="body" idx="4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4" name="Google Shape;264;p49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49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66" name="Google Shape;266;p49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0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50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0" name="Google Shape;270;p50"/>
          <p:cNvSpPr txBox="1">
            <a:spLocks noGrp="1"/>
          </p:cNvSpPr>
          <p:nvPr>
            <p:ph type="body" idx="2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1" name="Google Shape;271;p50"/>
          <p:cNvSpPr txBox="1">
            <a:spLocks noGrp="1"/>
          </p:cNvSpPr>
          <p:nvPr>
            <p:ph type="body" idx="3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2" name="Google Shape;272;p50"/>
          <p:cNvSpPr txBox="1">
            <a:spLocks noGrp="1"/>
          </p:cNvSpPr>
          <p:nvPr>
            <p:ph type="body" idx="4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3" name="Google Shape;273;p50"/>
          <p:cNvSpPr txBox="1">
            <a:spLocks noGrp="1"/>
          </p:cNvSpPr>
          <p:nvPr>
            <p:ph type="body" idx="5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p50"/>
          <p:cNvSpPr txBox="1">
            <a:spLocks noGrp="1"/>
          </p:cNvSpPr>
          <p:nvPr>
            <p:ph type="body" idx="6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5" name="Google Shape;275;p50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50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77" name="Google Shape;277;p50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9;p12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" name="Google Shape;11;p12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3838680" y="2160000"/>
            <a:ext cx="4405320" cy="153756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/>
          </p:nvPr>
        </p:nvSpPr>
        <p:spPr>
          <a:xfrm>
            <a:off x="0" y="2275920"/>
            <a:ext cx="12191760" cy="56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2" name="Google Shape;102;p14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260000" y="6011280"/>
            <a:ext cx="1681920" cy="58716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"/>
          <p:cNvSpPr txBox="1">
            <a:spLocks noGrp="1"/>
          </p:cNvSpPr>
          <p:nvPr>
            <p:ph type="dt" idx="10"/>
          </p:nvPr>
        </p:nvSpPr>
        <p:spPr>
          <a:xfrm>
            <a:off x="60948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9" name="Google Shape;189;p16"/>
          <p:cNvSpPr txBox="1">
            <a:spLocks noGrp="1"/>
          </p:cNvSpPr>
          <p:nvPr>
            <p:ph type="ftr" idx="11"/>
          </p:nvPr>
        </p:nvSpPr>
        <p:spPr>
          <a:xfrm>
            <a:off x="4165560" y="6356520"/>
            <a:ext cx="386028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sz="1400" b="0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0" name="Google Shape;190;p16"/>
          <p:cNvSpPr txBox="1">
            <a:spLocks noGrp="1"/>
          </p:cNvSpPr>
          <p:nvPr>
            <p:ph type="sldNum" idx="12"/>
          </p:nvPr>
        </p:nvSpPr>
        <p:spPr>
          <a:xfrm>
            <a:off x="8737560" y="6356520"/>
            <a:ext cx="2844360" cy="36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B8B8B"/>
              </a:buClr>
              <a:buSzPts val="1200"/>
              <a:buFont typeface="Calibri"/>
              <a:buNone/>
              <a:defRPr sz="1200" b="0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1" name="Google Shape;191;p16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4653720" y="3888000"/>
            <a:ext cx="2784240" cy="9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6"/>
          <p:cNvSpPr txBox="1"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3" name="Google Shape;193;p16"/>
          <p:cNvSpPr txBox="1">
            <a:spLocks noGrp="1"/>
          </p:cNvSpPr>
          <p:nvPr>
            <p:ph type="body" idx="1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zenodo.org/records/1414117?utm_source=chatgpt.co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zenodo.org/records/12805484?utm_source=chatgpt.com" TargetMode="External"/><Relationship Id="rId4" Type="http://schemas.openxmlformats.org/officeDocument/2006/relationships/hyperlink" Target="https://www.kaggle.com/datasets/computerscience3/public-requirementspure-dataset?utm_source=chatgpt.co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atlassian.com/cloud/jira/platform/rest/v3/" TargetMode="External"/><Relationship Id="rId7" Type="http://schemas.openxmlformats.org/officeDocument/2006/relationships/hyperlink" Target="https://zenodo.org/records/12805484?utm_source=chatgpt.com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kaggle.com/datasets/computerscience3/public-requirementspure-dataset?utm_source=chatgpt.com" TargetMode="External"/><Relationship Id="rId5" Type="http://schemas.openxmlformats.org/officeDocument/2006/relationships/hyperlink" Target="https://zenodo.org/records/1414117?utm_source=chatgpt.com" TargetMode="External"/><Relationship Id="rId4" Type="http://schemas.openxmlformats.org/officeDocument/2006/relationships/hyperlink" Target="https://api.slack.com/web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"/>
          <p:cNvSpPr txBox="1">
            <a:spLocks noGrp="1"/>
          </p:cNvSpPr>
          <p:nvPr>
            <p:ph type="title" idx="4294967295"/>
          </p:nvPr>
        </p:nvSpPr>
        <p:spPr>
          <a:xfrm>
            <a:off x="0" y="1906457"/>
            <a:ext cx="12191760" cy="56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/>
              <a:buNone/>
            </a:pPr>
            <a:r>
              <a:rPr lang="en-IN" sz="3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 Title</a:t>
            </a:r>
            <a:endParaRPr sz="3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"/>
          <p:cNvSpPr/>
          <p:nvPr/>
        </p:nvSpPr>
        <p:spPr>
          <a:xfrm>
            <a:off x="389160" y="4606920"/>
            <a:ext cx="3823560" cy="306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BY:-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"/>
          <p:cNvSpPr/>
          <p:nvPr/>
        </p:nvSpPr>
        <p:spPr>
          <a:xfrm>
            <a:off x="7808040" y="4795590"/>
            <a:ext cx="3832200" cy="1168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IN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MENTORED BY:-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r">
              <a:buSzPts val="1400"/>
            </a:pPr>
            <a:endParaRPr lang="en-IN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r">
              <a:buSzPts val="1400"/>
            </a:pPr>
            <a:r>
              <a:rPr lang="en-IN" sz="14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Dr.Mitali</a:t>
            </a:r>
            <a:r>
              <a:rPr lang="en-IN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4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Chugh</a:t>
            </a:r>
            <a:r>
              <a:rPr lang="en-IN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- </a:t>
            </a:r>
            <a:r>
              <a:rPr lang="en-IN" sz="14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</a:t>
            </a:r>
            <a:r>
              <a:rPr lang="en-IN" b="1" dirty="0" err="1">
                <a:latin typeface="Times New Roman"/>
                <a:ea typeface="Times New Roman"/>
                <a:cs typeface="Times New Roman"/>
                <a:sym typeface="Times New Roman"/>
              </a:rPr>
              <a:t>Associate</a:t>
            </a:r>
            <a:r>
              <a:rPr lang="en-IN" b="1" dirty="0">
                <a:latin typeface="Times New Roman"/>
                <a:ea typeface="Times New Roman"/>
                <a:cs typeface="Times New Roman"/>
                <a:sym typeface="Times New Roman"/>
              </a:rPr>
              <a:t> Professor and Program Lead DevOps  </a:t>
            </a:r>
            <a:endParaRPr lang="en-IN" dirty="0">
              <a:solidFill>
                <a:schemeClr val="dk1"/>
              </a:solidFill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IN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"/>
          <p:cNvSpPr/>
          <p:nvPr/>
        </p:nvSpPr>
        <p:spPr>
          <a:xfrm>
            <a:off x="0" y="398880"/>
            <a:ext cx="12191760" cy="56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66"/>
              <a:buFont typeface="Calibri"/>
              <a:buNone/>
            </a:pPr>
            <a:r>
              <a:rPr lang="en-IN" sz="3366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Minor Project End</a:t>
            </a:r>
            <a:r>
              <a:rPr lang="en-IN" sz="3366" dirty="0">
                <a:latin typeface="Calibri"/>
                <a:ea typeface="Calibri"/>
                <a:cs typeface="Calibri"/>
                <a:sym typeface="Calibri"/>
              </a:rPr>
              <a:t>-Term</a:t>
            </a:r>
            <a:r>
              <a:rPr lang="en-IN" sz="3366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Presentation</a:t>
            </a:r>
            <a:endParaRPr sz="3366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"/>
          <p:cNvSpPr txBox="1"/>
          <p:nvPr/>
        </p:nvSpPr>
        <p:spPr>
          <a:xfrm>
            <a:off x="1057385" y="2505193"/>
            <a:ext cx="10076989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AI-Driven System for Automated Requirements Engineering from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Unstructured Stakeholder Communication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65E2F2A-D522-E840-8060-905FEA2A5B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596796"/>
              </p:ext>
            </p:extLst>
          </p:nvPr>
        </p:nvGraphicFramePr>
        <p:xfrm>
          <a:off x="389160" y="4913243"/>
          <a:ext cx="6318000" cy="15323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38698">
                  <a:extLst>
                    <a:ext uri="{9D8B030D-6E8A-4147-A177-3AD203B41FA5}">
                      <a16:colId xmlns:a16="http://schemas.microsoft.com/office/drawing/2014/main" val="3300791332"/>
                    </a:ext>
                  </a:extLst>
                </a:gridCol>
                <a:gridCol w="1420302">
                  <a:extLst>
                    <a:ext uri="{9D8B030D-6E8A-4147-A177-3AD203B41FA5}">
                      <a16:colId xmlns:a16="http://schemas.microsoft.com/office/drawing/2014/main" val="2174909540"/>
                    </a:ext>
                  </a:extLst>
                </a:gridCol>
                <a:gridCol w="1579500">
                  <a:extLst>
                    <a:ext uri="{9D8B030D-6E8A-4147-A177-3AD203B41FA5}">
                      <a16:colId xmlns:a16="http://schemas.microsoft.com/office/drawing/2014/main" val="1210719230"/>
                    </a:ext>
                  </a:extLst>
                </a:gridCol>
                <a:gridCol w="1579500">
                  <a:extLst>
                    <a:ext uri="{9D8B030D-6E8A-4147-A177-3AD203B41FA5}">
                      <a16:colId xmlns:a16="http://schemas.microsoft.com/office/drawing/2014/main" val="128556669"/>
                    </a:ext>
                  </a:extLst>
                </a:gridCol>
              </a:tblGrid>
              <a:tr h="242293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Enroll No.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Course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Specialization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2459830"/>
                  </a:ext>
                </a:extLst>
              </a:tr>
              <a:tr h="28583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Sreyas</a:t>
                      </a:r>
                      <a:r>
                        <a:rPr lang="en-US" dirty="0"/>
                        <a:t> Sharma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R2142230271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B.Tech</a:t>
                      </a:r>
                      <a:r>
                        <a:rPr lang="en-US" dirty="0"/>
                        <a:t> 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DevOps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549927"/>
                  </a:ext>
                </a:extLst>
              </a:tr>
              <a:tr h="313177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Shreyash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Shivhare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R2142231555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 err="1"/>
                        <a:t>B.Tech</a:t>
                      </a:r>
                      <a:r>
                        <a:rPr lang="en-US" dirty="0"/>
                        <a:t> 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DevOps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626640"/>
                  </a:ext>
                </a:extLst>
              </a:tr>
              <a:tr h="28583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Shivang</a:t>
                      </a:r>
                      <a:r>
                        <a:rPr lang="en-US" dirty="0"/>
                        <a:t> Mangal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R2142230269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 err="1"/>
                        <a:t>B.Tech</a:t>
                      </a:r>
                      <a:r>
                        <a:rPr lang="en-US" dirty="0"/>
                        <a:t> 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DevOps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293002"/>
                  </a:ext>
                </a:extLst>
              </a:tr>
              <a:tr h="28583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Devanshi</a:t>
                      </a:r>
                      <a:r>
                        <a:rPr lang="en-US" dirty="0"/>
                        <a:t> Jain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R2142230278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 err="1"/>
                        <a:t>B.Tech</a:t>
                      </a:r>
                      <a:r>
                        <a:rPr lang="en-US" dirty="0"/>
                        <a:t> CSE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DevOps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05703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endParaRPr sz="4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AD692C-B542-FC45-BD44-8890175B5E63}"/>
              </a:ext>
            </a:extLst>
          </p:cNvPr>
          <p:cNvSpPr/>
          <p:nvPr/>
        </p:nvSpPr>
        <p:spPr>
          <a:xfrm>
            <a:off x="4707283" y="185184"/>
            <a:ext cx="26245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4000" spc="-10" dirty="0">
                <a:solidFill>
                  <a:schemeClr val="bg2">
                    <a:lumMod val="75000"/>
                  </a:schemeClr>
                </a:solidFill>
              </a:rPr>
              <a:t>Content</a:t>
            </a:r>
            <a:endParaRPr lang="en-US" sz="40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06059F2-220E-6245-A617-6411267FD856}"/>
              </a:ext>
            </a:extLst>
          </p:cNvPr>
          <p:cNvSpPr txBox="1"/>
          <p:nvPr/>
        </p:nvSpPr>
        <p:spPr>
          <a:xfrm>
            <a:off x="518040" y="690302"/>
            <a:ext cx="10341869" cy="61375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1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Background</a:t>
            </a:r>
          </a:p>
          <a:p>
            <a:pPr lvl="1"/>
            <a:r>
              <a:rPr lang="en-IN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Motivation &amp; Problem Statement</a:t>
            </a:r>
          </a:p>
          <a:p>
            <a:pPr lvl="1"/>
            <a:r>
              <a:rPr lang="en-IN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Area of Application</a:t>
            </a:r>
          </a:p>
          <a:p>
            <a:pPr lvl="1"/>
            <a:r>
              <a:rPr lang="en-IN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Dataset &amp; Input Format</a:t>
            </a:r>
          </a:p>
          <a:p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lvl="1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Cite Related Work</a:t>
            </a:r>
          </a:p>
          <a:p>
            <a:pPr lvl="1"/>
            <a:r>
              <a:rPr lang="en-IN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SWOT Analysis</a:t>
            </a:r>
          </a:p>
          <a:p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lvl="1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Model</a:t>
            </a:r>
          </a:p>
          <a:p>
            <a:pPr lvl="1"/>
            <a:r>
              <a:rPr lang="en-IN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Processing Steps</a:t>
            </a:r>
          </a:p>
          <a:p>
            <a:pPr lvl="1"/>
            <a:r>
              <a:rPr lang="en-IN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Timeline</a:t>
            </a:r>
          </a:p>
          <a:p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lvl="1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Cases</a:t>
            </a:r>
          </a:p>
          <a:p>
            <a:pPr lvl="1"/>
            <a:r>
              <a:rPr lang="en-IN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Outcome Graphs</a:t>
            </a:r>
          </a:p>
          <a:p>
            <a:pPr lvl="1"/>
            <a:r>
              <a:rPr lang="en-IN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Comparative Analysis</a:t>
            </a:r>
          </a:p>
          <a:p>
            <a:pPr lvl="1"/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</a:p>
          <a:p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lvl="1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 of Objectives</a:t>
            </a:r>
          </a:p>
          <a:p>
            <a:pPr lvl="1"/>
            <a:r>
              <a:rPr lang="en-IN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Future Scope</a:t>
            </a:r>
          </a:p>
          <a:p>
            <a:r>
              <a:rPr lang="en-IN" sz="1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r>
              <a:rPr lang="en-IN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Publication Proof</a:t>
            </a:r>
          </a:p>
          <a:p>
            <a:r>
              <a:rPr lang="en-IN" sz="16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List of Cited Papers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IN" sz="4000" b="0" i="0" u="none" strike="noStrike" cap="none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</a:p>
        </p:txBody>
      </p:sp>
      <p:sp>
        <p:nvSpPr>
          <p:cNvPr id="304" name="Google Shape;304;p4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4"/>
          <p:cNvSpPr txBox="1"/>
          <p:nvPr/>
        </p:nvSpPr>
        <p:spPr>
          <a:xfrm>
            <a:off x="670920" y="1716384"/>
            <a:ext cx="10953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"/>
          <p:cNvSpPr txBox="1"/>
          <p:nvPr/>
        </p:nvSpPr>
        <p:spPr>
          <a:xfrm>
            <a:off x="420414" y="1166648"/>
            <a:ext cx="11543106" cy="2380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5250">
              <a:lnSpc>
                <a:spcPct val="115000"/>
              </a:lnSpc>
              <a:buClr>
                <a:schemeClr val="dk1"/>
              </a:buClr>
              <a:buSzPts val="2100"/>
            </a:pPr>
            <a:r>
              <a:rPr lang="en-IN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Background of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Requirements scattered across Jira, Slack, emails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Unstructured → hard to manage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Manual RE is slow and error-prone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600" b="1" dirty="0"/>
              <a:t>Nexus automates RE using NLP:</a:t>
            </a:r>
            <a:endParaRPr lang="en-IN" sz="16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Detect → Extract → Structure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Cluster, prioritize, summarize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Outputs structured (JSON/Markdown)</a:t>
            </a:r>
            <a:endParaRPr lang="en-IN" sz="1600" dirty="0">
              <a:solidFill>
                <a:srgbClr val="8B8B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306;p4">
            <a:extLst>
              <a:ext uri="{FF2B5EF4-FFF2-40B4-BE49-F238E27FC236}">
                <a16:creationId xmlns:a16="http://schemas.microsoft.com/office/drawing/2014/main" id="{AD7DCAFF-89D3-5B45-8E0D-E492D8F91944}"/>
              </a:ext>
            </a:extLst>
          </p:cNvPr>
          <p:cNvSpPr txBox="1"/>
          <p:nvPr/>
        </p:nvSpPr>
        <p:spPr>
          <a:xfrm>
            <a:off x="420414" y="4096995"/>
            <a:ext cx="11543106" cy="2663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5250">
              <a:lnSpc>
                <a:spcPct val="115000"/>
              </a:lnSpc>
              <a:buClr>
                <a:schemeClr val="dk1"/>
              </a:buClr>
              <a:buSzPts val="2100"/>
            </a:pPr>
            <a:r>
              <a:rPr lang="en-IN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Concepts (Algorithms)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Transformer Models (</a:t>
            </a:r>
            <a:r>
              <a:rPr lang="en-IN" sz="1600" dirty="0" err="1"/>
              <a:t>DistilBERT</a:t>
            </a:r>
            <a:r>
              <a:rPr lang="en-IN" sz="1600" dirty="0"/>
              <a:t>, BERT, T5)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Named Entity Recognition (</a:t>
            </a:r>
            <a:r>
              <a:rPr lang="en-IN" sz="1600" dirty="0" err="1"/>
              <a:t>spaCy</a:t>
            </a:r>
            <a:r>
              <a:rPr lang="en-IN" sz="1600" dirty="0"/>
              <a:t> + BERT)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Sentence Embeddings (Sentence-BERT)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Agglomerative Clustering (semantic grouping)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Rule-based Prioritization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Abstractive Summarization (Transformer-based)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Regex-based </a:t>
            </a:r>
            <a:r>
              <a:rPr lang="en-IN" sz="1600" dirty="0" err="1"/>
              <a:t>Preprocessing</a:t>
            </a:r>
            <a:r>
              <a:rPr lang="en-IN" sz="1600" dirty="0"/>
              <a:t> &amp; PII Filtering</a:t>
            </a:r>
          </a:p>
          <a:p>
            <a:pPr marL="95250">
              <a:lnSpc>
                <a:spcPct val="115000"/>
              </a:lnSpc>
              <a:buClr>
                <a:schemeClr val="dk1"/>
              </a:buClr>
              <a:buSzPts val="2100"/>
            </a:pPr>
            <a:endParaRPr lang="en-IN" sz="1600" dirty="0">
              <a:solidFill>
                <a:srgbClr val="8B8B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8B8B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IN" sz="4000" b="0" i="0" u="none" strike="noStrike" cap="none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</a:p>
        </p:txBody>
      </p:sp>
      <p:sp>
        <p:nvSpPr>
          <p:cNvPr id="304" name="Google Shape;304;p4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4"/>
          <p:cNvSpPr txBox="1"/>
          <p:nvPr/>
        </p:nvSpPr>
        <p:spPr>
          <a:xfrm>
            <a:off x="670920" y="1716384"/>
            <a:ext cx="10953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"/>
          <p:cNvSpPr txBox="1"/>
          <p:nvPr/>
        </p:nvSpPr>
        <p:spPr>
          <a:xfrm>
            <a:off x="420414" y="1166648"/>
            <a:ext cx="11543106" cy="1888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5250">
              <a:lnSpc>
                <a:spcPct val="115000"/>
              </a:lnSpc>
              <a:buClr>
                <a:schemeClr val="dk1"/>
              </a:buClr>
              <a:buSzPts val="2100"/>
            </a:pPr>
            <a:r>
              <a:rPr lang="en-IN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often get lost in scattered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extraction is slow and inconsistent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delays, miscommunication, and poor documentation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faster, accurate, and automated RE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efficiency, consistency, and traceability using AI</a:t>
            </a:r>
          </a:p>
        </p:txBody>
      </p:sp>
      <p:sp>
        <p:nvSpPr>
          <p:cNvPr id="6" name="Google Shape;306;p4">
            <a:extLst>
              <a:ext uri="{FF2B5EF4-FFF2-40B4-BE49-F238E27FC236}">
                <a16:creationId xmlns:a16="http://schemas.microsoft.com/office/drawing/2014/main" id="{CC718224-CE78-1A4A-BB4D-EAC88984B4BF}"/>
              </a:ext>
            </a:extLst>
          </p:cNvPr>
          <p:cNvSpPr txBox="1"/>
          <p:nvPr/>
        </p:nvSpPr>
        <p:spPr>
          <a:xfrm>
            <a:off x="420414" y="3794505"/>
            <a:ext cx="11543106" cy="2380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5250">
              <a:lnSpc>
                <a:spcPct val="115000"/>
              </a:lnSpc>
              <a:buClr>
                <a:schemeClr val="dk1"/>
              </a:buClr>
              <a:buSzPts val="2100"/>
            </a:pPr>
            <a:r>
              <a:rPr lang="en-IN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 intent is scattered across Jira tickets, Slack chats, and informal discussions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is noisy, unstructured, and lacks clear requirement boundaries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RE methods fail to capture and trace such dynamic inputs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tools focus on retrieval, not structured requirement extraction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a system that converts multi-channel, unstructured communication into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structured, traceable, and prioritized requirements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8877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IN" sz="4000" b="0" i="0" u="none" strike="noStrike" cap="none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</a:p>
        </p:txBody>
      </p:sp>
      <p:sp>
        <p:nvSpPr>
          <p:cNvPr id="304" name="Google Shape;304;p4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4"/>
          <p:cNvSpPr txBox="1"/>
          <p:nvPr/>
        </p:nvSpPr>
        <p:spPr>
          <a:xfrm>
            <a:off x="670920" y="1716384"/>
            <a:ext cx="10953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"/>
          <p:cNvSpPr txBox="1"/>
          <p:nvPr/>
        </p:nvSpPr>
        <p:spPr>
          <a:xfrm>
            <a:off x="420414" y="1166648"/>
            <a:ext cx="11543106" cy="1888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5250">
              <a:lnSpc>
                <a:spcPct val="115000"/>
              </a:lnSpc>
              <a:buClr>
                <a:schemeClr val="dk1"/>
              </a:buClr>
              <a:buSzPts val="2100"/>
            </a:pPr>
            <a:r>
              <a:rPr lang="en-IN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 of Application</a:t>
            </a:r>
          </a:p>
          <a:p>
            <a:endParaRPr lang="en-IN" sz="1600" dirty="0"/>
          </a:p>
          <a:p>
            <a:r>
              <a:rPr lang="en-IN" sz="1600" b="1" dirty="0"/>
              <a:t>Agile Software Development &amp; Requirements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Enterprise Communication Analysis (Jira, Slack)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AI-assisted Decision Support for Project Managers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Large-scale Collaborative Development Environments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306;p4">
            <a:extLst>
              <a:ext uri="{FF2B5EF4-FFF2-40B4-BE49-F238E27FC236}">
                <a16:creationId xmlns:a16="http://schemas.microsoft.com/office/drawing/2014/main" id="{CC718224-CE78-1A4A-BB4D-EAC88984B4BF}"/>
              </a:ext>
            </a:extLst>
          </p:cNvPr>
          <p:cNvSpPr txBox="1"/>
          <p:nvPr/>
        </p:nvSpPr>
        <p:spPr>
          <a:xfrm>
            <a:off x="420414" y="3254845"/>
            <a:ext cx="11543106" cy="2842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5250">
              <a:lnSpc>
                <a:spcPct val="115000"/>
              </a:lnSpc>
              <a:buClr>
                <a:schemeClr val="dk1"/>
              </a:buClr>
              <a:buSzPts val="2100"/>
            </a:pPr>
            <a:r>
              <a:rPr lang="en-IN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and Input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Multi-source input from Jira and Slack.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JSON-based data with fields: summary, description, comments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NER dataset with annotated entities (actor, feature, constraint, priority)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r>
              <a:rPr lang="en-IN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https://zenodo.org/records/1414117?utm_source=chatgpt.com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PURE: a Dataset of Public Requirements Documents)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https://www.kaggle.com/datasets/computerscience3/public-requirementspure-dataset?utm_source=chatgpt.com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(Public Requirements(PURE) Dataset)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https://zenodo.org/records/12805484?utm_source=chatgpt.com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Promise+: A dataset of labelled software requirements)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252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"/>
          <p:cNvSpPr/>
          <p:nvPr/>
        </p:nvSpPr>
        <p:spPr>
          <a:xfrm>
            <a:off x="613720" y="69994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4000"/>
            </a:pPr>
            <a:r>
              <a:rPr lang="en-US" sz="4000" dirty="0">
                <a:solidFill>
                  <a:srgbClr val="00B0F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Review - </a:t>
            </a:r>
            <a:r>
              <a:rPr lang="en-US" sz="3000" dirty="0">
                <a:solidFill>
                  <a:srgbClr val="7030A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Cite Related Work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endParaRPr sz="400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4"/>
          <p:cNvSpPr txBox="1"/>
          <p:nvPr/>
        </p:nvSpPr>
        <p:spPr>
          <a:xfrm>
            <a:off x="670920" y="1716384"/>
            <a:ext cx="109536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98DF7D-873E-B846-9F9D-F9BABBCB08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117917"/>
              </p:ext>
            </p:extLst>
          </p:nvPr>
        </p:nvGraphicFramePr>
        <p:xfrm>
          <a:off x="670920" y="893812"/>
          <a:ext cx="9490920" cy="555489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72730">
                  <a:extLst>
                    <a:ext uri="{9D8B030D-6E8A-4147-A177-3AD203B41FA5}">
                      <a16:colId xmlns:a16="http://schemas.microsoft.com/office/drawing/2014/main" val="912501825"/>
                    </a:ext>
                  </a:extLst>
                </a:gridCol>
                <a:gridCol w="2372730">
                  <a:extLst>
                    <a:ext uri="{9D8B030D-6E8A-4147-A177-3AD203B41FA5}">
                      <a16:colId xmlns:a16="http://schemas.microsoft.com/office/drawing/2014/main" val="308296978"/>
                    </a:ext>
                  </a:extLst>
                </a:gridCol>
                <a:gridCol w="2372730">
                  <a:extLst>
                    <a:ext uri="{9D8B030D-6E8A-4147-A177-3AD203B41FA5}">
                      <a16:colId xmlns:a16="http://schemas.microsoft.com/office/drawing/2014/main" val="2831650385"/>
                    </a:ext>
                  </a:extLst>
                </a:gridCol>
                <a:gridCol w="2372730">
                  <a:extLst>
                    <a:ext uri="{9D8B030D-6E8A-4147-A177-3AD203B41FA5}">
                      <a16:colId xmlns:a16="http://schemas.microsoft.com/office/drawing/2014/main" val="3662844641"/>
                    </a:ext>
                  </a:extLst>
                </a:gridCol>
              </a:tblGrid>
              <a:tr h="264678"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/ Paper</a:t>
                      </a:r>
                      <a:endParaRPr lang="en-IN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Approach</a:t>
                      </a:r>
                      <a:endParaRPr lang="en-IN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  <a:endParaRPr lang="en-IN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 / Gap</a:t>
                      </a:r>
                      <a:endParaRPr lang="en-IN" sz="12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2384201"/>
                  </a:ext>
                </a:extLst>
              </a:tr>
              <a:tr h="419073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Abualhaija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(2020) 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[15]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NLP + Data Mining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Identifies requirements from text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structured input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53024348"/>
                  </a:ext>
                </a:extLst>
              </a:tr>
              <a:tr h="419073">
                <a:tc>
                  <a:txBody>
                    <a:bodyPr/>
                    <a:lstStyle/>
                    <a:p>
                      <a:pPr algn="ctr"/>
                      <a:r>
                        <a:rPr lang="da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Hey et al. (2020) (NoRBERT) </a:t>
                      </a:r>
                      <a:r>
                        <a:rPr lang="da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[17]</a:t>
                      </a:r>
                      <a:endParaRPr lang="da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Transfer Learning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requirement classification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dependent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70856024"/>
                  </a:ext>
                </a:extLst>
              </a:tr>
              <a:tr h="419073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Devlin et al. (2019) 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[18]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BERT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Contextual language understanding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fine-tuning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936193660"/>
                  </a:ext>
                </a:extLst>
              </a:tr>
              <a:tr h="419073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Sanh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(2019) 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[19]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DistilBERT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lightweight transformer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Slight accuracy trade-off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93064578"/>
                  </a:ext>
                </a:extLst>
              </a:tr>
              <a:tr h="419073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McInnes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(2018) 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[22]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UMAP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Dimensionality reduction for clustering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 sensitive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627386212"/>
                  </a:ext>
                </a:extLst>
              </a:tr>
              <a:tr h="419073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Raffel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(2020) 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[24]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T5 Transformer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Unified text-to-text modeling (summarization)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cost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90025554"/>
                  </a:ext>
                </a:extLst>
              </a:tr>
              <a:tr h="264678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Siddeshwar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(2024) 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[7]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Framework Survey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Overview of AI in RE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unified pipeline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073356352"/>
                  </a:ext>
                </a:extLst>
              </a:tr>
              <a:tr h="419073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Umar &amp; </a:t>
                      </a:r>
                      <a:r>
                        <a:rPr lang="en-IN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Lano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(2024) 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[8]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 Automation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Advances in AI-based RE tools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Fragmented solutions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212875497"/>
                  </a:ext>
                </a:extLst>
              </a:tr>
              <a:tr h="419073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Arora et al. (2023/2025) (RECOVER) 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[10][11]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Conversational RE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Extracts requirements from dialogue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 clustering &amp; scaling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45055272"/>
                  </a:ext>
                </a:extLst>
              </a:tr>
              <a:tr h="419073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Lam et al. (2025) 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[9]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</a:t>
                      </a:r>
                      <a:r>
                        <a:rPr lang="en-IN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Copilot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Supports project management tasks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 on retrieval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11776281"/>
                  </a:ext>
                </a:extLst>
              </a:tr>
              <a:tr h="419073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Almalki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(2025) 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[25]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Decision Support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Enhances project management decisions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RE-focused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791899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6938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"/>
          <p:cNvSpPr/>
          <p:nvPr/>
        </p:nvSpPr>
        <p:spPr>
          <a:xfrm>
            <a:off x="533519" y="381726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b="0" strike="noStrike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Literature Review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2600" dirty="0">
                <a:solidFill>
                  <a:srgbClr val="7030A0"/>
                </a:solidFill>
              </a:rPr>
              <a:t>SWOT Analysis</a:t>
            </a:r>
            <a:endParaRPr sz="2600" b="0" strike="noStrike" dirty="0">
              <a:solidFill>
                <a:srgbClr val="7030A0"/>
              </a:solidFill>
              <a:sym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118E78-B147-B248-BBAB-1AC81D57DCF9}"/>
              </a:ext>
            </a:extLst>
          </p:cNvPr>
          <p:cNvSpPr txBox="1"/>
          <p:nvPr/>
        </p:nvSpPr>
        <p:spPr>
          <a:xfrm>
            <a:off x="196829" y="1597576"/>
            <a:ext cx="5822731" cy="1815882"/>
          </a:xfrm>
          <a:prstGeom prst="rect">
            <a:avLst/>
          </a:prstGeom>
          <a:gradFill flip="none" rotWithShape="1">
            <a:gsLst>
              <a:gs pos="0">
                <a:srgbClr val="92D050">
                  <a:tint val="66000"/>
                  <a:satMod val="160000"/>
                </a:srgbClr>
              </a:gs>
              <a:gs pos="50000">
                <a:srgbClr val="92D050">
                  <a:tint val="44500"/>
                  <a:satMod val="160000"/>
                </a:srgbClr>
              </a:gs>
              <a:gs pos="100000">
                <a:srgbClr val="92D05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Strengths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Automates manual requirements engineering tasks using AI and NLP.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Significantly reduces time, human effort, and requirement ambiguity.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Seamlessly integrates with enterprise SDLC ecosystems (e.g., Jira).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end-to-end pipeline, pretrained transformers.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Improves requirement organization and overall documentation quality.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5D9BDB-0E55-2943-884C-7DB9895DB653}"/>
              </a:ext>
            </a:extLst>
          </p:cNvPr>
          <p:cNvSpPr txBox="1"/>
          <p:nvPr/>
        </p:nvSpPr>
        <p:spPr>
          <a:xfrm>
            <a:off x="6172442" y="1597576"/>
            <a:ext cx="5822731" cy="1815882"/>
          </a:xfrm>
          <a:prstGeom prst="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36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Weaknesses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Model accuracy heavily depends on underlying dataset quality and prior training.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Requires significant initial text pre-processing and computational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Limited seed classifier data; NER boundary errors on priority/feature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May struggle initially with highly informal or context-heavy language without sufficient context mapping.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ADB3F6-8DA6-8D4C-A476-08570379B207}"/>
              </a:ext>
            </a:extLst>
          </p:cNvPr>
          <p:cNvSpPr txBox="1"/>
          <p:nvPr/>
        </p:nvSpPr>
        <p:spPr>
          <a:xfrm>
            <a:off x="196828" y="3499069"/>
            <a:ext cx="5822731" cy="2031325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bg2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bg2">
                  <a:lumMod val="60000"/>
                  <a:lumOff val="40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Opportunities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Can be directly integrated into other software development lifecycle (SDLC) tracking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Highly useful for start-ups and large organizations managing expansive, fragmented requirement datasets.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LLM audit, larger annotated corpora, production monitoring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Potential to expand into real-time ambiguity detection and requirement conflict resolution in the future.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E31059-35B6-8541-B575-0BA7E64FC79E}"/>
              </a:ext>
            </a:extLst>
          </p:cNvPr>
          <p:cNvSpPr txBox="1"/>
          <p:nvPr/>
        </p:nvSpPr>
        <p:spPr>
          <a:xfrm>
            <a:off x="6172442" y="3499068"/>
            <a:ext cx="5822731" cy="2031325"/>
          </a:xfrm>
          <a:prstGeom prst="rect">
            <a:avLst/>
          </a:pr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5400000" scaled="1"/>
            <a:tileRect/>
          </a:gra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b="1" dirty="0"/>
              <a:t>Threats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Rapid advancements and fast-paced changes in modern NLP technologies and architectural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Increasing availability and competition from commercial requirement automation and management tools.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Domain shift across teams; evolving channel formats (Slack/Jira)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Potential data privacy and security concerns when processing sensitive or proprietary stakeholder communications.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5807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IN" sz="4000" b="0" strike="noStrike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sz="4000" b="0" strike="noStrike" dirty="0">
              <a:solidFill>
                <a:srgbClr val="00B0F0"/>
              </a:solidFill>
              <a:sym typeface="Arial"/>
            </a:endParaRPr>
          </a:p>
        </p:txBody>
      </p:sp>
      <p:sp>
        <p:nvSpPr>
          <p:cNvPr id="312" name="Google Shape;312;p5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5"/>
          <p:cNvSpPr txBox="1"/>
          <p:nvPr/>
        </p:nvSpPr>
        <p:spPr>
          <a:xfrm>
            <a:off x="729598" y="1330582"/>
            <a:ext cx="10732804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AI-based system to automate Requirements Engineering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requirements from unstructured stakeholder communication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requirement sentences using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key entities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(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BERT)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requirements into standard formats (FR/NFR)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similar requirements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clustering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requirements using multi-signal scoring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summaries and provide explainable outputs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system with tools like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Jira &amp; Slack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 performance using NLP evaluation metrics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IN" sz="4000" b="0" strike="noStrike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</a:p>
        </p:txBody>
      </p:sp>
      <p:sp>
        <p:nvSpPr>
          <p:cNvPr id="312" name="Google Shape;312;p5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5"/>
          <p:cNvSpPr txBox="1"/>
          <p:nvPr/>
        </p:nvSpPr>
        <p:spPr>
          <a:xfrm>
            <a:off x="668638" y="1202161"/>
            <a:ext cx="10732804" cy="3370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Software Model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Requirements Engineering framework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Pipeline-based Processing Model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(Input → Processing → Output)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+ Machine Learning models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automation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Inspired by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RE practices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dynamic environments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Three-tier architecture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(Frontend–Backend–NLP Engine)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workflow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data ingestion to requirement extraction with priority score.</a:t>
            </a:r>
          </a:p>
        </p:txBody>
      </p:sp>
    </p:spTree>
    <p:extLst>
      <p:ext uri="{BB962C8B-B14F-4D97-AF65-F5344CB8AC3E}">
        <p14:creationId xmlns:p14="http://schemas.microsoft.com/office/powerpoint/2010/main" val="2859325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00B0F0"/>
                </a:solidFill>
              </a:rPr>
              <a:t>Methodology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3000" b="0" strike="noStrike" dirty="0">
                <a:solidFill>
                  <a:srgbClr val="7030A0"/>
                </a:solidFill>
                <a:sym typeface="Arial"/>
              </a:rPr>
              <a:t>Steps</a:t>
            </a:r>
            <a:endParaRPr sz="3000" b="0" strike="noStrike" dirty="0">
              <a:solidFill>
                <a:srgbClr val="7030A0"/>
              </a:solidFill>
              <a:sym typeface="Arial"/>
            </a:endParaRPr>
          </a:p>
        </p:txBody>
      </p:sp>
      <p:sp>
        <p:nvSpPr>
          <p:cNvPr id="312" name="Google Shape;312;p5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E069A5-0970-6845-884D-2EA2E70D627C}"/>
              </a:ext>
            </a:extLst>
          </p:cNvPr>
          <p:cNvSpPr txBox="1"/>
          <p:nvPr/>
        </p:nvSpPr>
        <p:spPr>
          <a:xfrm>
            <a:off x="704192" y="1744717"/>
            <a:ext cx="1063647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 data from Jira, Slack APIs or user-provided JSON/text inputs</a:t>
            </a:r>
          </a:p>
          <a:p>
            <a:pPr marL="400050" indent="-400050">
              <a:buFont typeface="+mj-lt"/>
              <a:buAutoNum type="arabicPeriod"/>
            </a:pP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Privacy Filtering: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 and normalize text, remove URLs, emails, and mentions</a:t>
            </a:r>
          </a:p>
          <a:p>
            <a:pPr marL="400050" indent="-400050"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Detection: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requirement sentences using fine-tuned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</a:t>
            </a:r>
          </a:p>
          <a:p>
            <a:pPr marL="400050" indent="-400050"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Named Entity Recognition: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 key entities (ACTOR, FEATURE, QUALITY_ATTRIBUTE, CONDITION, PRIORITY) using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BERT</a:t>
            </a:r>
          </a:p>
          <a:p>
            <a:pPr marL="400050" indent="-400050"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Structuring: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 extracted data into standard actor–action–constraint format and classify as FR/NFR</a:t>
            </a:r>
          </a:p>
          <a:p>
            <a:pPr marL="400050" indent="-400050"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Clustering: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 similar requirements using Sentence-BERT embeddings and clustering algorithms</a:t>
            </a:r>
          </a:p>
          <a:p>
            <a:pPr marL="400050" indent="-400050"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Multi-signal Prioritization: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Assign priority levels based on keywords, constraints, sentiment, and feature importance</a:t>
            </a:r>
          </a:p>
          <a:p>
            <a:pPr marL="400050" indent="-400050"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Summarization &amp; </a:t>
            </a:r>
            <a:r>
              <a:rPr lang="en-IN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Explainability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concise summaries using transformer models and provide reasoning for decisions</a:t>
            </a:r>
          </a:p>
          <a:p>
            <a:pPr marL="400050" indent="-400050">
              <a:buFont typeface="+mj-lt"/>
              <a:buAutoNum type="arabi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Generation: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Produce structured requirements (REQ-001, REQ-002…) with entities, priority, and justification in JSON format.</a:t>
            </a:r>
          </a:p>
        </p:txBody>
      </p:sp>
    </p:spTree>
    <p:extLst>
      <p:ext uri="{BB962C8B-B14F-4D97-AF65-F5344CB8AC3E}">
        <p14:creationId xmlns:p14="http://schemas.microsoft.com/office/powerpoint/2010/main" val="321650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"/>
          <p:cNvSpPr/>
          <p:nvPr/>
        </p:nvSpPr>
        <p:spPr>
          <a:xfrm>
            <a:off x="548999" y="159839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00B0F0"/>
                </a:solidFill>
              </a:rPr>
              <a:t>Methodology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2600" dirty="0">
                <a:solidFill>
                  <a:srgbClr val="7030A0"/>
                </a:solidFill>
              </a:rPr>
              <a:t>Architecture Diagrams</a:t>
            </a:r>
          </a:p>
        </p:txBody>
      </p:sp>
      <p:sp>
        <p:nvSpPr>
          <p:cNvPr id="312" name="Google Shape;312;p5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Image2">
            <a:extLst>
              <a:ext uri="{FF2B5EF4-FFF2-40B4-BE49-F238E27FC236}">
                <a16:creationId xmlns:a16="http://schemas.microsoft.com/office/drawing/2014/main" id="{6D1784F8-BED3-5142-A113-44975331A0E9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31514" y="3111045"/>
            <a:ext cx="5607050" cy="25031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79779DE-760C-0043-8EF2-1AB4DEC922C1}"/>
              </a:ext>
            </a:extLst>
          </p:cNvPr>
          <p:cNvSpPr txBox="1"/>
          <p:nvPr/>
        </p:nvSpPr>
        <p:spPr>
          <a:xfrm>
            <a:off x="3081346" y="1859562"/>
            <a:ext cx="5907386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i="1" dirty="0"/>
              <a:t>Figure 1. </a:t>
            </a:r>
            <a:r>
              <a:rPr lang="en-US" i="1" dirty="0"/>
              <a:t>System architecture: Electron client, Spring Boot services with </a:t>
            </a:r>
            <a:br>
              <a:rPr lang="en-US" i="1" dirty="0"/>
            </a:br>
            <a:r>
              <a:rPr lang="en-US" i="1" dirty="0"/>
              <a:t>OAuth2 to Atlassian APIs, MongoDB persistence, and a local Python </a:t>
            </a:r>
            <a:br>
              <a:rPr lang="en-US" i="1" dirty="0"/>
            </a:br>
            <a:r>
              <a:rPr lang="en-US" i="1" dirty="0"/>
              <a:t>analysis endpoint.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2477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"/>
          <p:cNvSpPr/>
          <p:nvPr/>
        </p:nvSpPr>
        <p:spPr>
          <a:xfrm>
            <a:off x="548999" y="159839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dirty="0">
                <a:solidFill>
                  <a:srgbClr val="00B0F0"/>
                </a:solidFill>
              </a:rPr>
              <a:t>Methodology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2600" dirty="0">
                <a:solidFill>
                  <a:srgbClr val="7030A0"/>
                </a:solidFill>
              </a:rPr>
              <a:t>Architecture Diagrams</a:t>
            </a:r>
          </a:p>
        </p:txBody>
      </p:sp>
      <p:sp>
        <p:nvSpPr>
          <p:cNvPr id="312" name="Google Shape;312;p5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" name="Image4">
            <a:extLst>
              <a:ext uri="{FF2B5EF4-FFF2-40B4-BE49-F238E27FC236}">
                <a16:creationId xmlns:a16="http://schemas.microsoft.com/office/drawing/2014/main" id="{DF848A00-F1B2-C243-8C3F-D0DDB5BA6897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04154" y="2170611"/>
            <a:ext cx="1461770" cy="4527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094F441-1614-6346-A4CA-11E3F4EDB272}"/>
              </a:ext>
            </a:extLst>
          </p:cNvPr>
          <p:cNvSpPr txBox="1"/>
          <p:nvPr/>
        </p:nvSpPr>
        <p:spPr>
          <a:xfrm>
            <a:off x="1885505" y="1463689"/>
            <a:ext cx="829906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i="1" dirty="0"/>
              <a:t>Figure 2. </a:t>
            </a:r>
            <a:r>
              <a:rPr lang="en-US" i="1" dirty="0"/>
              <a:t>Clustering and </a:t>
            </a:r>
            <a:r>
              <a:rPr lang="en-US" i="1" dirty="0" err="1"/>
              <a:t>prioritisation</a:t>
            </a:r>
            <a:r>
              <a:rPr lang="en-US" i="1" dirty="0"/>
              <a:t>: dense vectors, density-based cluster formation, then per-cluster </a:t>
            </a:r>
            <a:br>
              <a:rPr lang="en-US" i="1" dirty="0"/>
            </a:br>
            <a:r>
              <a:rPr lang="en-US" i="1" dirty="0"/>
              <a:t>aggregation of item-level scores with semantic correction and arbitration</a:t>
            </a:r>
            <a:r>
              <a:rPr lang="en-IN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2726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endParaRPr sz="4000" b="0" strike="noStrik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6DEBE335-3026-7548-8EF0-E040C4C136DD}"/>
              </a:ext>
            </a:extLst>
          </p:cNvPr>
          <p:cNvSpPr txBox="1">
            <a:spLocks/>
          </p:cNvSpPr>
          <p:nvPr/>
        </p:nvSpPr>
        <p:spPr>
          <a:xfrm>
            <a:off x="686401" y="384335"/>
            <a:ext cx="10751416" cy="10720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700" algn="ctr">
              <a:spcBef>
                <a:spcPts val="100"/>
              </a:spcBef>
            </a:pPr>
            <a:r>
              <a:rPr lang="en-IN" sz="4000" dirty="0">
                <a:solidFill>
                  <a:srgbClr val="00B0F0"/>
                </a:solidFill>
                <a:latin typeface="Times New Roman"/>
                <a:cs typeface="Times New Roman"/>
              </a:rPr>
              <a:t>Methodology</a:t>
            </a:r>
          </a:p>
          <a:p>
            <a:pPr marL="12700">
              <a:spcBef>
                <a:spcPts val="100"/>
              </a:spcBef>
            </a:pPr>
            <a:r>
              <a:rPr lang="en-IN" sz="2800" dirty="0">
                <a:solidFill>
                  <a:srgbClr val="7030A0"/>
                </a:solidFill>
                <a:latin typeface="Times New Roman"/>
                <a:cs typeface="Times New Roman"/>
              </a:rPr>
              <a:t>Timeline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0EF4EA9-1290-1647-BECD-20DED0A33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053838"/>
              </p:ext>
            </p:extLst>
          </p:nvPr>
        </p:nvGraphicFramePr>
        <p:xfrm>
          <a:off x="754181" y="1683714"/>
          <a:ext cx="10683636" cy="428563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70909">
                  <a:extLst>
                    <a:ext uri="{9D8B030D-6E8A-4147-A177-3AD203B41FA5}">
                      <a16:colId xmlns:a16="http://schemas.microsoft.com/office/drawing/2014/main" val="4011485852"/>
                    </a:ext>
                  </a:extLst>
                </a:gridCol>
                <a:gridCol w="2670909">
                  <a:extLst>
                    <a:ext uri="{9D8B030D-6E8A-4147-A177-3AD203B41FA5}">
                      <a16:colId xmlns:a16="http://schemas.microsoft.com/office/drawing/2014/main" val="2763199081"/>
                    </a:ext>
                  </a:extLst>
                </a:gridCol>
                <a:gridCol w="2670909">
                  <a:extLst>
                    <a:ext uri="{9D8B030D-6E8A-4147-A177-3AD203B41FA5}">
                      <a16:colId xmlns:a16="http://schemas.microsoft.com/office/drawing/2014/main" val="2388544841"/>
                    </a:ext>
                  </a:extLst>
                </a:gridCol>
                <a:gridCol w="2670909">
                  <a:extLst>
                    <a:ext uri="{9D8B030D-6E8A-4147-A177-3AD203B41FA5}">
                      <a16:colId xmlns:a16="http://schemas.microsoft.com/office/drawing/2014/main" val="3904454384"/>
                    </a:ext>
                  </a:extLst>
                </a:gridCol>
              </a:tblGrid>
              <a:tr h="296768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</a:rPr>
                        <a:t>Phase / Timeline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</a:rPr>
                        <a:t>Activity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</a:rPr>
                        <a:t>Deliverable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</a:rPr>
                        <a:t>Status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860010"/>
                  </a:ext>
                </a:extLst>
              </a:tr>
              <a:tr h="919980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effectLst/>
                        </a:rPr>
                        <a:t>Phase 1</a:t>
                      </a:r>
                      <a:br>
                        <a:rPr lang="en-IN" sz="1400" b="1">
                          <a:effectLst/>
                        </a:rPr>
                      </a:br>
                      <a:r>
                        <a:rPr lang="en-IN" sz="1400" b="1">
                          <a:effectLst/>
                        </a:rPr>
                        <a:t>(Jan Wk 3 - Feb Wk 1)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/>
                        <a:t>Frontend Development </a:t>
                      </a:r>
                      <a:endParaRPr lang="en-IN" sz="1400" b="0" dirty="0">
                        <a:effectLst/>
                      </a:endParaRP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</a:rPr>
                        <a:t>Cross-platform Electron desktop app &amp; React UI for document upload and interactive data visualization.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</a:rPr>
                        <a:t>✅ Done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5504185"/>
                  </a:ext>
                </a:extLst>
              </a:tr>
              <a:tr h="919980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effectLst/>
                        </a:rPr>
                        <a:t>Phase 2</a:t>
                      </a:r>
                      <a:br>
                        <a:rPr lang="en-IN" sz="1400" b="1">
                          <a:effectLst/>
                        </a:rPr>
                      </a:br>
                      <a:r>
                        <a:rPr lang="en-IN" sz="1400" b="1">
                          <a:effectLst/>
                        </a:rPr>
                        <a:t>(Feb Wk 3 - March Mid)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</a:rPr>
                        <a:t>Backend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</a:rPr>
                        <a:t>Spring Boot REST API, centralized data hub, Atlassian/Jira integration, and Unified Text Formatting module.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</a:rPr>
                        <a:t>✅ Done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6018997"/>
                  </a:ext>
                </a:extLst>
              </a:tr>
              <a:tr h="919980"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effectLst/>
                        </a:rPr>
                        <a:t>Phase 3</a:t>
                      </a:r>
                      <a:br>
                        <a:rPr lang="en-IN" sz="1400" b="1">
                          <a:effectLst/>
                        </a:rPr>
                      </a:br>
                      <a:r>
                        <a:rPr lang="en-IN" sz="1400" b="1">
                          <a:effectLst/>
                        </a:rPr>
                        <a:t>(March End - April Mid)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/>
                        <a:t>AI &amp; NLP Processing Layer</a:t>
                      </a:r>
                      <a:endParaRPr lang="en-IN" sz="1400" b="0" dirty="0">
                        <a:effectLst/>
                      </a:endParaRP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>
                          <a:effectLst/>
                        </a:rPr>
                        <a:t>Flask Python Microservice, AI NLP preprocessing, NER extraction, classification models, and summarization.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>
                          <a:effectLst/>
                        </a:rPr>
                        <a:t>✅ Done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5752356"/>
                  </a:ext>
                </a:extLst>
              </a:tr>
              <a:tr h="91998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effectLst/>
                        </a:rPr>
                        <a:t>Phase 4</a:t>
                      </a:r>
                      <a:br>
                        <a:rPr lang="en-IN" sz="1400" b="1" dirty="0">
                          <a:effectLst/>
                        </a:rPr>
                      </a:br>
                      <a:r>
                        <a:rPr lang="en-IN" sz="1400" b="1" dirty="0">
                          <a:effectLst/>
                        </a:rPr>
                        <a:t>(April End)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/>
                        <a:t>Phase 4 – System Integration &amp; Evaluation</a:t>
                      </a:r>
                      <a:endParaRPr lang="en-IN" sz="1400" b="0" dirty="0">
                        <a:effectLst/>
                      </a:endParaRP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effectLst/>
                        </a:rPr>
                        <a:t>End-to-end system integration, latency/scalability testing, AI metrics validation, and CI/CD deployment.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>
                          <a:effectLst/>
                        </a:rPr>
                        <a:t>✅ Done</a:t>
                      </a:r>
                    </a:p>
                  </a:txBody>
                  <a:tcPr marL="89030" marR="89030" marT="44515" marB="445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1344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8441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8"/>
          <p:cNvSpPr/>
          <p:nvPr/>
        </p:nvSpPr>
        <p:spPr>
          <a:xfrm>
            <a:off x="533520" y="22527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b="0" strike="noStrike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b="0" strike="noStrik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Test Cases</a:t>
            </a:r>
            <a:endParaRPr sz="4000" b="0" strike="noStrike" dirty="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B32240-3CE4-EF62-ACC9-4DFF7BDFFC75}"/>
              </a:ext>
            </a:extLst>
          </p:cNvPr>
          <p:cNvSpPr txBox="1"/>
          <p:nvPr/>
        </p:nvSpPr>
        <p:spPr>
          <a:xfrm>
            <a:off x="549000" y="2373236"/>
            <a:ext cx="4446582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b="1" dirty="0"/>
              <a:t>Testing Strategy</a:t>
            </a:r>
            <a:endParaRPr lang="en-GB" sz="1800" dirty="0"/>
          </a:p>
          <a:p>
            <a:pPr lvl="6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Multi-layer testing approach: </a:t>
            </a:r>
          </a:p>
          <a:p>
            <a:pPr marL="742950" lvl="4" indent="-285750">
              <a:buFont typeface="Arial" panose="020B0604020202020204" pitchFamily="34" charset="0"/>
              <a:buChar char="•"/>
            </a:pPr>
            <a:r>
              <a:rPr lang="en-GB" dirty="0"/>
              <a:t>Unit testing (service logic) </a:t>
            </a:r>
          </a:p>
          <a:p>
            <a:pPr marL="742950" lvl="4" indent="-285750">
              <a:buFont typeface="Arial" panose="020B0604020202020204" pitchFamily="34" charset="0"/>
              <a:buChar char="•"/>
            </a:pPr>
            <a:r>
              <a:rPr lang="en-GB" dirty="0"/>
              <a:t>Repository testing (MongoDB persistence) </a:t>
            </a:r>
          </a:p>
          <a:p>
            <a:pPr marL="742950" lvl="4" indent="-285750">
              <a:buFont typeface="Arial" panose="020B0604020202020204" pitchFamily="34" charset="0"/>
              <a:buChar char="•"/>
            </a:pPr>
            <a:r>
              <a:rPr lang="en-GB" dirty="0"/>
              <a:t>Controller testing (API </a:t>
            </a:r>
            <a:r>
              <a:rPr lang="en-GB" dirty="0" err="1"/>
              <a:t>behavior</a:t>
            </a:r>
            <a:r>
              <a:rPr lang="en-GB" dirty="0"/>
              <a:t>) </a:t>
            </a:r>
          </a:p>
          <a:p>
            <a:pPr marL="742950" lvl="4" indent="-285750">
              <a:buFont typeface="Arial" panose="020B0604020202020204" pitchFamily="34" charset="0"/>
              <a:buChar char="•"/>
            </a:pPr>
            <a:r>
              <a:rPr lang="en-GB" dirty="0"/>
              <a:t>Security testing (authentication and access) </a:t>
            </a:r>
          </a:p>
          <a:p>
            <a:pPr marL="742950" lvl="4" indent="-285750">
              <a:buFont typeface="Arial" panose="020B0604020202020204" pitchFamily="34" charset="0"/>
              <a:buChar char="•"/>
            </a:pPr>
            <a:r>
              <a:rPr lang="en-GB" dirty="0"/>
              <a:t>Integration testing (end-to-end flow) </a:t>
            </a:r>
          </a:p>
          <a:p>
            <a:pPr lvl="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Approach: </a:t>
            </a:r>
          </a:p>
          <a:p>
            <a:pPr marL="742950" lvl="4" indent="-285750">
              <a:buFont typeface="Arial" panose="020B0604020202020204" pitchFamily="34" charset="0"/>
              <a:buChar char="•"/>
            </a:pPr>
            <a:r>
              <a:rPr lang="en-GB" dirty="0"/>
              <a:t>AAA pattern (Arrange – Act – Assert) </a:t>
            </a:r>
          </a:p>
          <a:p>
            <a:pPr marL="742950" lvl="4" indent="-285750">
              <a:buFont typeface="Arial" panose="020B0604020202020204" pitchFamily="34" charset="0"/>
              <a:buChar char="•"/>
            </a:pPr>
            <a:r>
              <a:rPr lang="en-GB" dirty="0"/>
              <a:t>Independent and runnable tests </a:t>
            </a:r>
          </a:p>
          <a:p>
            <a:pPr lvl="3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Tools: </a:t>
            </a:r>
          </a:p>
          <a:p>
            <a:pPr marL="742950" lvl="4" indent="-285750">
              <a:buFont typeface="Arial" panose="020B0604020202020204" pitchFamily="34" charset="0"/>
              <a:buChar char="•"/>
            </a:pPr>
            <a:r>
              <a:rPr lang="en-GB" dirty="0"/>
              <a:t>JUnit 5 </a:t>
            </a:r>
          </a:p>
          <a:p>
            <a:pPr marL="742950" lvl="4" indent="-285750">
              <a:buFont typeface="Arial" panose="020B0604020202020204" pitchFamily="34" charset="0"/>
              <a:buChar char="•"/>
            </a:pPr>
            <a:r>
              <a:rPr lang="en-GB" dirty="0"/>
              <a:t>Mockito </a:t>
            </a:r>
          </a:p>
          <a:p>
            <a:pPr marL="742950" lvl="4" indent="-285750">
              <a:buFont typeface="Arial" panose="020B0604020202020204" pitchFamily="34" charset="0"/>
              <a:buChar char="•"/>
            </a:pPr>
            <a:r>
              <a:rPr lang="en-GB" dirty="0" err="1"/>
              <a:t>MockMvc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E6F9C2-8447-9577-3A26-44A27FADE8FA}"/>
              </a:ext>
            </a:extLst>
          </p:cNvPr>
          <p:cNvSpPr txBox="1"/>
          <p:nvPr/>
        </p:nvSpPr>
        <p:spPr>
          <a:xfrm>
            <a:off x="6019560" y="2465569"/>
            <a:ext cx="4533900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US" sz="1800" b="1" dirty="0"/>
              <a:t>Test Coverage</a:t>
            </a:r>
            <a:endParaRPr lang="en-US" sz="1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Unit Tests: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Covers happy paths, edge cases, exceptions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Verifies side effects (database writes)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Repository Tests: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Save and fetch using composite IDs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Validates real MongoDB behavior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Controller Tests: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JSON request and response validation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HTTP status and error handling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Security Tests: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OAuth2 login simulation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Unauthorized vs authorized access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2F906A-EBF0-0F87-1E33-3C4E9009F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20" y="1673736"/>
            <a:ext cx="10451335" cy="62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104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8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b="0" strike="noStrike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3000" b="0" strike="noStrik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Outcome Graphs</a:t>
            </a:r>
            <a:endParaRPr sz="3000" b="0" strike="noStrike" dirty="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EC4F637-F836-0C46-A826-8A981D43D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95" y="2022719"/>
            <a:ext cx="3268939" cy="25703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531EB27-48C5-604B-A362-FC2063386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1530" y="2022719"/>
            <a:ext cx="3268939" cy="25703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92441D-3C74-4A49-8874-3CE5E4B72A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4533" y="2022719"/>
            <a:ext cx="3268940" cy="25703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6983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8"/>
          <p:cNvSpPr/>
          <p:nvPr/>
        </p:nvSpPr>
        <p:spPr>
          <a:xfrm>
            <a:off x="549000" y="311346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b="0" strike="noStrike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3000" b="0" strike="noStrik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Comparative Studies</a:t>
            </a:r>
            <a:endParaRPr sz="3000" b="0" strike="noStrike" dirty="0">
              <a:solidFill>
                <a:srgbClr val="7030A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9C4061-1EEA-8245-A560-55649FAB4F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056546"/>
              </p:ext>
            </p:extLst>
          </p:nvPr>
        </p:nvGraphicFramePr>
        <p:xfrm>
          <a:off x="1197486" y="1538944"/>
          <a:ext cx="9797028" cy="422753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49257">
                  <a:extLst>
                    <a:ext uri="{9D8B030D-6E8A-4147-A177-3AD203B41FA5}">
                      <a16:colId xmlns:a16="http://schemas.microsoft.com/office/drawing/2014/main" val="4027654573"/>
                    </a:ext>
                  </a:extLst>
                </a:gridCol>
                <a:gridCol w="2449257">
                  <a:extLst>
                    <a:ext uri="{9D8B030D-6E8A-4147-A177-3AD203B41FA5}">
                      <a16:colId xmlns:a16="http://schemas.microsoft.com/office/drawing/2014/main" val="3602676931"/>
                    </a:ext>
                  </a:extLst>
                </a:gridCol>
                <a:gridCol w="2449257">
                  <a:extLst>
                    <a:ext uri="{9D8B030D-6E8A-4147-A177-3AD203B41FA5}">
                      <a16:colId xmlns:a16="http://schemas.microsoft.com/office/drawing/2014/main" val="1788572806"/>
                    </a:ext>
                  </a:extLst>
                </a:gridCol>
                <a:gridCol w="2449257">
                  <a:extLst>
                    <a:ext uri="{9D8B030D-6E8A-4147-A177-3AD203B41FA5}">
                      <a16:colId xmlns:a16="http://schemas.microsoft.com/office/drawing/2014/main" val="2186602240"/>
                    </a:ext>
                  </a:extLst>
                </a:gridCol>
              </a:tblGrid>
              <a:tr h="31315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</a:t>
                      </a:r>
                    </a:p>
                  </a:txBody>
                  <a:tcPr marL="92053" marR="92053" marT="61369" marB="61369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RE</a:t>
                      </a:r>
                    </a:p>
                  </a:txBody>
                  <a:tcPr marL="92053" marR="92053" marT="61369" marB="61369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AI/ML Approaches</a:t>
                      </a:r>
                    </a:p>
                  </a:txBody>
                  <a:tcPr marL="92053" marR="92053" marT="61369" marB="61369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 (Nexus)</a:t>
                      </a:r>
                    </a:p>
                  </a:txBody>
                  <a:tcPr marL="92053" marR="92053" marT="61369" marB="61369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475859"/>
                  </a:ext>
                </a:extLst>
              </a:tr>
              <a:tr h="313150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 Extraction</a:t>
                      </a: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Manual, time-consuming 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[1][2][12]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Semi-automated (limited NLP)</a:t>
                      </a: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Fully automated (NLP pipeline)</a:t>
                      </a:r>
                    </a:p>
                  </a:txBody>
                  <a:tcPr marL="92053" marR="92053" marT="61369" marB="61369" anchor="ctr"/>
                </a:tc>
                <a:extLst>
                  <a:ext uri="{0D108BD9-81ED-4DB2-BD59-A6C34878D82A}">
                    <a16:rowId xmlns:a16="http://schemas.microsoft.com/office/drawing/2014/main" val="1812920293"/>
                  </a:ext>
                </a:extLst>
              </a:tr>
              <a:tr h="495823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 Handling</a:t>
                      </a: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Structured documents 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[2][4]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Mostly structured text</a:t>
                      </a: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Handles unstructured multi-source data</a:t>
                      </a:r>
                    </a:p>
                  </a:txBody>
                  <a:tcPr marL="92053" marR="92053" marT="61369" marB="61369" anchor="ctr"/>
                </a:tc>
                <a:extLst>
                  <a:ext uri="{0D108BD9-81ED-4DB2-BD59-A6C34878D82A}">
                    <a16:rowId xmlns:a16="http://schemas.microsoft.com/office/drawing/2014/main" val="3963763687"/>
                  </a:ext>
                </a:extLst>
              </a:tr>
              <a:tr h="495823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Techniques Used</a:t>
                      </a: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analysis 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[1][2]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ML / NLP</a:t>
                      </a: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Transformer-based models (BERT, T5)</a:t>
                      </a:r>
                    </a:p>
                  </a:txBody>
                  <a:tcPr marL="92053" marR="92053" marT="61369" marB="61369" anchor="ctr"/>
                </a:tc>
                <a:extLst>
                  <a:ext uri="{0D108BD9-81ED-4DB2-BD59-A6C34878D82A}">
                    <a16:rowId xmlns:a16="http://schemas.microsoft.com/office/drawing/2014/main" val="2578575978"/>
                  </a:ext>
                </a:extLst>
              </a:tr>
              <a:tr h="495823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Clustering</a:t>
                      </a: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supported 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[1][2]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similarity grouping</a:t>
                      </a: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Semantic clustering (Sentence-BERT)</a:t>
                      </a:r>
                    </a:p>
                  </a:txBody>
                  <a:tcPr marL="92053" marR="92053" marT="61369" marB="61369" anchor="ctr"/>
                </a:tc>
                <a:extLst>
                  <a:ext uri="{0D108BD9-81ED-4DB2-BD59-A6C34878D82A}">
                    <a16:rowId xmlns:a16="http://schemas.microsoft.com/office/drawing/2014/main" val="1169082010"/>
                  </a:ext>
                </a:extLst>
              </a:tr>
              <a:tr h="495823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Prioritization</a:t>
                      </a: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Human-based 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[13]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Rule-based or absent</a:t>
                      </a: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Multi-signal intelligent prioritization</a:t>
                      </a:r>
                    </a:p>
                  </a:txBody>
                  <a:tcPr marL="92053" marR="92053" marT="61369" marB="61369" anchor="ctr"/>
                </a:tc>
                <a:extLst>
                  <a:ext uri="{0D108BD9-81ED-4DB2-BD59-A6C34878D82A}">
                    <a16:rowId xmlns:a16="http://schemas.microsoft.com/office/drawing/2014/main" val="2450903900"/>
                  </a:ext>
                </a:extLst>
              </a:tr>
              <a:tr h="495823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Explainability</a:t>
                      </a: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available 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[1]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 explainability with reasoning</a:t>
                      </a:r>
                    </a:p>
                  </a:txBody>
                  <a:tcPr marL="92053" marR="92053" marT="61369" marB="61369" anchor="ctr"/>
                </a:tc>
                <a:extLst>
                  <a:ext uri="{0D108BD9-81ED-4DB2-BD59-A6C34878D82A}">
                    <a16:rowId xmlns:a16="http://schemas.microsoft.com/office/drawing/2014/main" val="4074676435"/>
                  </a:ext>
                </a:extLst>
              </a:tr>
              <a:tr h="495823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Output Format</a:t>
                      </a: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documents 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[2]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 structuring</a:t>
                      </a: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Structured SRS (JSON + Markdown)</a:t>
                      </a:r>
                    </a:p>
                  </a:txBody>
                  <a:tcPr marL="92053" marR="92053" marT="61369" marB="61369" anchor="ctr"/>
                </a:tc>
                <a:extLst>
                  <a:ext uri="{0D108BD9-81ED-4DB2-BD59-A6C34878D82A}">
                    <a16:rowId xmlns:a16="http://schemas.microsoft.com/office/drawing/2014/main" val="1099420901"/>
                  </a:ext>
                </a:extLst>
              </a:tr>
              <a:tr h="313150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Integration</a:t>
                      </a: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Standalone 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[3]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integration</a:t>
                      </a: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Seamless Jira/Slack integration</a:t>
                      </a:r>
                    </a:p>
                  </a:txBody>
                  <a:tcPr marL="92053" marR="92053" marT="61369" marB="61369" anchor="ctr"/>
                </a:tc>
                <a:extLst>
                  <a:ext uri="{0D108BD9-81ED-4DB2-BD59-A6C34878D82A}">
                    <a16:rowId xmlns:a16="http://schemas.microsoft.com/office/drawing/2014/main" val="15830929"/>
                  </a:ext>
                </a:extLst>
              </a:tr>
              <a:tr h="313150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Scalability</a:t>
                      </a: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</a:t>
                      </a: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 action="ppaction://hlinksldjump"/>
                        </a:rPr>
                        <a:t>[3][4]</a:t>
                      </a:r>
                      <a:endParaRPr lang="en-IN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marL="92053" marR="92053" marT="61369" marB="61369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(automated pipeline)</a:t>
                      </a:r>
                    </a:p>
                  </a:txBody>
                  <a:tcPr marL="92053" marR="92053" marT="61369" marB="61369" anchor="ctr"/>
                </a:tc>
                <a:extLst>
                  <a:ext uri="{0D108BD9-81ED-4DB2-BD59-A6C34878D82A}">
                    <a16:rowId xmlns:a16="http://schemas.microsoft.com/office/drawing/2014/main" val="1087169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1906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8"/>
          <p:cNvSpPr/>
          <p:nvPr/>
        </p:nvSpPr>
        <p:spPr>
          <a:xfrm>
            <a:off x="549000" y="78813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IN" sz="4000" b="0" strike="noStrik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Screenshots</a:t>
            </a:r>
            <a:endParaRPr sz="4000" b="0" strike="noStrik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56171F-4C0A-F742-B725-D730A577B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47" y="1006200"/>
            <a:ext cx="3786554" cy="21110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508332-3F38-AD42-98BE-B7DD5C340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4540" y="1006200"/>
            <a:ext cx="3868965" cy="21110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B3EA24-E7B2-CC43-875F-E015A6168B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7188" y="1006200"/>
            <a:ext cx="3868965" cy="21110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524DDF-72E8-5746-B44D-2D98F7413D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846" y="3306518"/>
            <a:ext cx="3786553" cy="20660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8B9159-E10B-C745-8D2D-F0D79F1252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4540" y="3306518"/>
            <a:ext cx="3868965" cy="20660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9D5B6A-F6EA-2545-B0EA-DE93A017F0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7187" y="3261552"/>
            <a:ext cx="3868965" cy="21110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9"/>
          <p:cNvSpPr/>
          <p:nvPr/>
        </p:nvSpPr>
        <p:spPr>
          <a:xfrm>
            <a:off x="549000" y="18432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US" sz="4000" b="0" strike="noStrike" dirty="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</a:p>
        </p:txBody>
      </p:sp>
      <p:sp>
        <p:nvSpPr>
          <p:cNvPr id="342" name="Google Shape;342;p9"/>
          <p:cNvSpPr/>
          <p:nvPr/>
        </p:nvSpPr>
        <p:spPr>
          <a:xfrm>
            <a:off x="549000" y="1326600"/>
            <a:ext cx="10972080" cy="452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B8AC5A3-FCF9-8E4A-851E-9BEC5B5AE13A}"/>
              </a:ext>
            </a:extLst>
          </p:cNvPr>
          <p:cNvSpPr/>
          <p:nvPr/>
        </p:nvSpPr>
        <p:spPr>
          <a:xfrm>
            <a:off x="670920" y="848545"/>
            <a:ext cx="10972080" cy="3019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 of Objectives</a:t>
            </a:r>
          </a:p>
          <a:p>
            <a:endParaRPr lang="en-IN" sz="1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AI-based pipeline successfully automating the Requirements Engineering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requirements from unstructured sources like Jira, Slack, and raw text inputs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accurate requirement detection using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key entities (ACTOR, FEATURE, CONSTRAINT, etc.) using NER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BERT)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requirements into standardized formats (FR/NFR) for better clarity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Grouped semantically similar requirements using clustering techniques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Prioritized requirements effectively using multi-signal scoring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concise summaries along with explainable reasoning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system with enterprise tools (Jira, Slack) for real-world usability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Validated performance using NLP metrics (accuracy, precision, recall, F1-score)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24D840-82A5-1043-97E7-51DF0925695A}"/>
              </a:ext>
            </a:extLst>
          </p:cNvPr>
          <p:cNvSpPr/>
          <p:nvPr/>
        </p:nvSpPr>
        <p:spPr>
          <a:xfrm>
            <a:off x="670919" y="3994423"/>
            <a:ext cx="10850161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b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support to multilingual data for global teams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processing of live chats and streams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model with larger, domain-specific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learning-based prioritization (ML instead of rules)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feedback loop / active learning for continuous improvement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"/>
          <p:cNvSpPr/>
          <p:nvPr/>
        </p:nvSpPr>
        <p:spPr>
          <a:xfrm>
            <a:off x="533520" y="426960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IN" sz="4000" b="0" strike="noStrike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4000" b="0" strike="noStrike" dirty="0">
              <a:solidFill>
                <a:srgbClr val="00B0F0"/>
              </a:solidFill>
              <a:sym typeface="Arial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533520" y="1208689"/>
            <a:ext cx="10972080" cy="102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IN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Publication Proof</a:t>
            </a:r>
          </a:p>
          <a:p>
            <a:r>
              <a:rPr lang="en-IN" sz="1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Copyright / acceptance correspondence (see embedded image below).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04C366-E5F5-B446-86D7-10ECF55D9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367" y="2023678"/>
            <a:ext cx="8475265" cy="38936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"/>
          <p:cNvSpPr/>
          <p:nvPr/>
        </p:nvSpPr>
        <p:spPr>
          <a:xfrm>
            <a:off x="533520" y="138309"/>
            <a:ext cx="10972080" cy="1142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lang="en-IN" sz="4000" b="0" strike="noStrike" dirty="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4000" b="0" strike="noStrike" dirty="0">
              <a:solidFill>
                <a:srgbClr val="00B0F0"/>
              </a:solidFill>
              <a:sym typeface="Arial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686400" y="709449"/>
            <a:ext cx="10972080" cy="6148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 of Cited Papers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P.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Zave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“Classification of research efforts in requirements engineering,” ACM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Surv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vol. 29, no. 4, pp. 315–367, 1997.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K. Pohl, Requirements Engineering: Fundamentals, Principles, and Techniques. Springer, 2010.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L. Cao and B. Ramesh, “Agile requirements engineering practices: Challenges in practice,” IEEE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vol. 25, no. 1, pp. 60–67, 2008.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W.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Maalej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“Toward data-driven requirements engineering,” IEEE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vol. 33, no. 1, pp. 48–54, 2016.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A. Ferrari et al., “Natural language requirements processing: A four-dimensional view,” IEEE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vol. 34, no. 6, pp. 56–63, 2017.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Z.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Kurtanović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W.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Maalej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“Automatically classifying functional and non-functional requirements using supervised machine learning,” in Proc. IEEE Int. Conf. Req. Eng. (RE), 2017, pp. 490–495.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S.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Siddeshwar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Alwidian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M.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Makrehchi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 systematic review of AI-enabled frameworks in requirements elicitation,” IEEE Access, vol. 12, pp. 154310–154328, 2024,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10.1109/ACCESS.2024.3475293.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 M. A. Umar and K.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Lano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“Advances in automated support for requirements engineering: A systematic literature review,” Requirements Eng., vol. 29, pp. 177–207, 2024,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10.1007/s00766-023-00411-0.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K. Lam et al., “Co-pilot for project managers: Developing a PDF-driven AI chatbot for facilitating project management,” IEEE Access, vol. 13, pp. 43079–43096, 2025,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10.1109/ACCESS.2025.3548519.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 G.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Voria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“RECOVER: Toward requirements generation from stakeholders’ conversations,” IEEE Trans.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Eng., vol. 51, no. 6, pp. 1912–1927, 2025,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10.1109/TSE.2025.3572056.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 C. Arora et al., “RECOVER: Requirements generation from stakeholder conversations,” in Proc. REFSQ, 2023 (conference lineage preceding IEEE TSE journal version).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 B.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Nuseibeh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S. Easterbrook, “Requirements engineering: A roadmap,” in Proc. ICSE, 2000, pp. 35–46.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 B. Ramesh and M.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Jarke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“Toward reference models for requirements traceability,” IEEE Trans.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Eng., vol. 27, no. 1, pp. 58–93, 2001.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 L.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Kof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“Using natural language to support domain knowledge elicitation from text,” in Proc. RE, 2007, pp. 321–322.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 S.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Abualhaija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“Automated unambiguous identification of requirements in textual specifications: A NLP and data mining approach,” in Proc. RE, 2020, pp. 78–88.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 J. Cleland-Huang et al., “Automated classification of non-functional requirements,” Requirements Eng., vol. 12, no. 2, pp. 103–114, 2007.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 T. Hey, J. Müller, and W.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Maalej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NoRBERT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Transfer learning for requirements classification,” in Proc. RE, 2020, pp. 169–179.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 J. Devlin et al., “BERT: Pre-training of deep bidirectional transformers for language understanding,” in Proc. NAACL-HLT, 2019, pp. 4171–4186.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 V.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Sanh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DistilBERT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distilled version of BERT: smaller, faster, cheaper and lighter,” arXiv:1910.01108, 2019.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 Explosion AI,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spaCy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Industrial-strength natural language processing in Python, software v3.x documentation and whitepapers, 2024.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[21] N. Reimers and I.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Gurevych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“Sentence-BERT: Sentence embeddings using Siamese BERT-networks,” in Proc. EMNLP, 2019, pp. 3982–3992.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[22] L.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McInnes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 Healy, and J. Melville, “UMAP: Uniform manifold approximation and projection for dimension reduction,” arXiv:1802.03426, 2018.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[23] R. J.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Campello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Moulavi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J. Sander, “Density-based clustering based on hierarchical density estimates,” in Proc. PAKDD, 2013, pp. 160–172.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[24] C.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Raffel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“Exploring the limits of transfer learning with a unified text-to-text transformer,” J. Mach. Learn. Res., vol. 21, no. 140, pp. 1–67, 2020.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[25] S. S.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Almalki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“AI-driven decision support systems in agile software project management: Enhancing risk mitigation and resource allocation,” Systems (Basel), MDPI, 2025 (identifier 3228838 in project URL index).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[26] A. R.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Hevner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al., “Design science in information systems research,” MIS Quarterly, vol. 28, no. 1, pp. 75–105, 2004.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[27] Supplementary venue pointers bundled with the codebase: IEEE Xplore abstracts 10971718, 11139278, 11052817; </a:t>
            </a: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MDPI manuscript 3157458; ACM DL 10.1145/3712005 — retrieve full metadata via DOI / document number when citing externally.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[28]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https://developer.atlassian.com/cloud/jira/platform/rest/v3/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[29]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https://api.slack.com/web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[30]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Datasets- </a:t>
            </a:r>
            <a:b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https://zenodo.org/records/1414117?utm_source=chatgpt.com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PURE: a Dataset of Public Requirements Documents)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https://www.kaggle.com/datasets/computerscience3/public-requirementspure-dataset?utm_source=chatgpt.com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(Public Requirements(PURE) Dataset)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https://zenodo.org/records/12805484?utm_source=chatgpt.com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Promise+: A dataset of </a:t>
            </a:r>
            <a:r>
              <a:rPr lang="en-IN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software requirements)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213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</TotalTime>
  <Words>2657</Words>
  <Application>Microsoft Macintosh PowerPoint</Application>
  <PresentationFormat>Widescreen</PresentationFormat>
  <Paragraphs>363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Times New Roman</vt:lpstr>
      <vt:lpstr>Times New Roman Bold</vt:lpstr>
      <vt:lpstr>Office Theme</vt:lpstr>
      <vt:lpstr>Office Theme</vt:lpstr>
      <vt:lpstr>Office Theme</vt:lpstr>
      <vt:lpstr>PowerPoint Presentation</vt:lpstr>
      <vt:lpstr>Project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Apple 2</dc:creator>
  <cp:lastModifiedBy>Shreyash Shivhare</cp:lastModifiedBy>
  <cp:revision>37</cp:revision>
  <dcterms:created xsi:type="dcterms:W3CDTF">2017-08-14T08:34:40Z</dcterms:created>
  <dcterms:modified xsi:type="dcterms:W3CDTF">2026-05-06T09:30:24Z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11</vt:i4>
  </property>
</Properties>
</file>